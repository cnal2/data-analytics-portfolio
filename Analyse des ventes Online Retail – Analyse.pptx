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2"/>
  </p:notesMasterIdLst>
  <p:sldIdLst>
    <p:sldId id="256" r:id="rId2"/>
    <p:sldId id="273" r:id="rId3"/>
    <p:sldId id="274" r:id="rId4"/>
    <p:sldId id="356" r:id="rId5"/>
    <p:sldId id="357" r:id="rId6"/>
    <p:sldId id="370" r:id="rId7"/>
    <p:sldId id="358" r:id="rId8"/>
    <p:sldId id="368" r:id="rId9"/>
    <p:sldId id="369" r:id="rId10"/>
    <p:sldId id="293" r:id="rId11"/>
    <p:sldId id="363" r:id="rId12"/>
    <p:sldId id="372" r:id="rId13"/>
    <p:sldId id="373" r:id="rId14"/>
    <p:sldId id="382" r:id="rId15"/>
    <p:sldId id="383" r:id="rId16"/>
    <p:sldId id="388" r:id="rId17"/>
    <p:sldId id="384" r:id="rId18"/>
    <p:sldId id="385" r:id="rId19"/>
    <p:sldId id="387" r:id="rId20"/>
    <p:sldId id="386" r:id="rId21"/>
    <p:sldId id="371" r:id="rId22"/>
    <p:sldId id="374" r:id="rId23"/>
    <p:sldId id="375" r:id="rId24"/>
    <p:sldId id="389" r:id="rId25"/>
    <p:sldId id="376" r:id="rId26"/>
    <p:sldId id="377" r:id="rId27"/>
    <p:sldId id="378" r:id="rId28"/>
    <p:sldId id="379" r:id="rId29"/>
    <p:sldId id="380" r:id="rId30"/>
    <p:sldId id="290" r:id="rId31"/>
  </p:sldIdLst>
  <p:sldSz cx="12192000" cy="6858000"/>
  <p:notesSz cx="6888163" cy="100187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Style léger 1 - Accentuation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66863" autoAdjust="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sv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svg"/><Relationship Id="rId1" Type="http://schemas.openxmlformats.org/officeDocument/2006/relationships/image" Target="../media/image13.png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10" Type="http://schemas.openxmlformats.org/officeDocument/2006/relationships/image" Target="../media/image22.svg"/><Relationship Id="rId4" Type="http://schemas.openxmlformats.org/officeDocument/2006/relationships/image" Target="../media/image16.svg"/><Relationship Id="rId9" Type="http://schemas.openxmlformats.org/officeDocument/2006/relationships/image" Target="../media/image2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7DAB576-56F4-459F-A1E9-EDEE01B59831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fr-FR"/>
        </a:p>
      </dgm:t>
    </dgm:pt>
    <dgm:pt modelId="{4000F0CE-BABE-471E-B0FA-5E6D9DD5278C}">
      <dgm:prSet phldrT="[Texte]"/>
      <dgm:spPr/>
      <dgm:t>
        <a:bodyPr/>
        <a:lstStyle/>
        <a:p>
          <a:r>
            <a: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Décision</a:t>
          </a:r>
        </a:p>
      </dgm:t>
    </dgm:pt>
    <dgm:pt modelId="{D4BCE276-8CF6-41B4-A185-7A77A9972862}" type="parTrans" cxnId="{E771DA3A-E206-4C9A-B8D4-72B18FA1EB0B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0EE6702-2DF1-46F1-A990-772A5BFA688A}" type="sibTrans" cxnId="{E771DA3A-E206-4C9A-B8D4-72B18FA1EB0B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A250CB6-3416-465A-B5C6-9B4904044D2D}">
      <dgm:prSet phldrT="[Texte]"/>
      <dgm:spPr/>
      <dgm:t>
        <a:bodyPr/>
        <a:lstStyle/>
        <a:p>
          <a:r>
            <a: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Investir</a:t>
          </a:r>
        </a:p>
      </dgm:t>
    </dgm:pt>
    <dgm:pt modelId="{7F6D3267-EF6F-4111-97BF-54D134E2D997}" type="parTrans" cxnId="{D3EF8863-4D80-4ABE-9A4C-281C7972DBDD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B51AE1F-A2CE-45E1-8ED0-29341EE363CA}" type="sibTrans" cxnId="{D3EF8863-4D80-4ABE-9A4C-281C7972DBDD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FA7CDCE-B185-459F-84EB-9C1A240292C7}">
      <dgm:prSet phldrT="[Texte]"/>
      <dgm:spPr/>
      <dgm:t>
        <a:bodyPr/>
        <a:lstStyle/>
        <a:p>
          <a:r>
            <a: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Succès</a:t>
          </a:r>
        </a:p>
      </dgm:t>
    </dgm:pt>
    <dgm:pt modelId="{C4F5E4E9-2A18-4FF7-BF83-669E062B5204}" type="parTrans" cxnId="{71E718B8-2447-4258-B2E0-674C71BB853D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0B07FDE-DC19-4913-A9D5-ABE37FE2EB95}" type="sibTrans" cxnId="{71E718B8-2447-4258-B2E0-674C71BB853D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25639D8-3F93-4455-A046-84C5D285C2E2}">
      <dgm:prSet phldrT="[Texte]"/>
      <dgm:spPr/>
      <dgm:t>
        <a:bodyPr/>
        <a:lstStyle/>
        <a:p>
          <a:r>
            <a: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échec</a:t>
          </a:r>
        </a:p>
      </dgm:t>
    </dgm:pt>
    <dgm:pt modelId="{7000B146-9119-40BE-839C-845E3C295319}" type="parTrans" cxnId="{B5765F47-C5EA-45AA-A953-5DD0B44622A8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9F6A489-46A7-4D82-BAA9-5C3426B086B5}" type="sibTrans" cxnId="{B5765F47-C5EA-45AA-A953-5DD0B44622A8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2303A5A-FA94-4BF0-B00C-A25884E22DD8}">
      <dgm:prSet phldrT="[Texte]"/>
      <dgm:spPr/>
      <dgm:t>
        <a:bodyPr/>
        <a:lstStyle/>
        <a:p>
          <a:r>
            <a:rPr lang="fr-F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 pas investir</a:t>
          </a:r>
        </a:p>
      </dgm:t>
    </dgm:pt>
    <dgm:pt modelId="{C7692AE1-00F1-49AA-B36F-9298AE32673D}" type="parTrans" cxnId="{F59C8100-EC70-46E5-965F-FFE135D5DBC6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202B805C-6D71-42CF-B2AF-E4BF9EB1E853}" type="sibTrans" cxnId="{F59C8100-EC70-46E5-965F-FFE135D5DBC6}">
      <dgm:prSet/>
      <dgm:spPr/>
      <dgm:t>
        <a:bodyPr/>
        <a:lstStyle/>
        <a:p>
          <a:endParaRPr lang="fr-FR">
            <a:latin typeface="Calibri" panose="020F050202020403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58AEAA3-D351-45BA-BC1A-C79243DD8EA2}" type="pres">
      <dgm:prSet presAssocID="{27DAB576-56F4-459F-A1E9-EDEE01B59831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69D0520-1C10-4F61-B10D-5BAD1512047F}" type="pres">
      <dgm:prSet presAssocID="{4000F0CE-BABE-471E-B0FA-5E6D9DD5278C}" presName="hierRoot1" presStyleCnt="0"/>
      <dgm:spPr/>
    </dgm:pt>
    <dgm:pt modelId="{78DD23A8-D2F9-4C0F-8549-2F918A88E107}" type="pres">
      <dgm:prSet presAssocID="{4000F0CE-BABE-471E-B0FA-5E6D9DD5278C}" presName="composite" presStyleCnt="0"/>
      <dgm:spPr/>
    </dgm:pt>
    <dgm:pt modelId="{A97B2BC2-06B7-47F8-9F4C-FB06AF33250E}" type="pres">
      <dgm:prSet presAssocID="{4000F0CE-BABE-471E-B0FA-5E6D9DD5278C}" presName="image" presStyleLbl="node0" presStyleIdx="0" presStyleCnt="1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emme juge avec un remplissage uni"/>
        </a:ext>
      </dgm:extLst>
    </dgm:pt>
    <dgm:pt modelId="{4036D33D-90EC-4A4F-85E2-D9E92302B860}" type="pres">
      <dgm:prSet presAssocID="{4000F0CE-BABE-471E-B0FA-5E6D9DD5278C}" presName="text" presStyleLbl="revTx" presStyleIdx="0" presStyleCnt="5">
        <dgm:presLayoutVars>
          <dgm:chPref val="3"/>
        </dgm:presLayoutVars>
      </dgm:prSet>
      <dgm:spPr/>
    </dgm:pt>
    <dgm:pt modelId="{B0C8BEC2-AABB-4D7A-A30D-680F3733C4E4}" type="pres">
      <dgm:prSet presAssocID="{4000F0CE-BABE-471E-B0FA-5E6D9DD5278C}" presName="hierChild2" presStyleCnt="0"/>
      <dgm:spPr/>
    </dgm:pt>
    <dgm:pt modelId="{A8CE25FB-54C8-4516-A641-984F3E7F1008}" type="pres">
      <dgm:prSet presAssocID="{7F6D3267-EF6F-4111-97BF-54D134E2D997}" presName="Name10" presStyleLbl="parChTrans1D2" presStyleIdx="0" presStyleCnt="2"/>
      <dgm:spPr/>
    </dgm:pt>
    <dgm:pt modelId="{50A24714-9224-4B8F-9B5F-01235B1B248A}" type="pres">
      <dgm:prSet presAssocID="{BA250CB6-3416-465A-B5C6-9B4904044D2D}" presName="hierRoot2" presStyleCnt="0"/>
      <dgm:spPr/>
    </dgm:pt>
    <dgm:pt modelId="{CF9B4247-6DBF-414C-87EE-DFCCC07A56A5}" type="pres">
      <dgm:prSet presAssocID="{BA250CB6-3416-465A-B5C6-9B4904044D2D}" presName="composite2" presStyleCnt="0"/>
      <dgm:spPr/>
    </dgm:pt>
    <dgm:pt modelId="{FB75197F-441F-473F-A55E-54A7779FE8AC}" type="pres">
      <dgm:prSet presAssocID="{BA250CB6-3416-465A-B5C6-9B4904044D2D}" presName="image2" presStyleLbl="node2" presStyleIdx="0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irelire avec un remplissage uni"/>
        </a:ext>
      </dgm:extLst>
    </dgm:pt>
    <dgm:pt modelId="{A6776EC5-0743-49C7-A9F6-CA186AF40E5D}" type="pres">
      <dgm:prSet presAssocID="{BA250CB6-3416-465A-B5C6-9B4904044D2D}" presName="text2" presStyleLbl="revTx" presStyleIdx="1" presStyleCnt="5">
        <dgm:presLayoutVars>
          <dgm:chPref val="3"/>
        </dgm:presLayoutVars>
      </dgm:prSet>
      <dgm:spPr/>
    </dgm:pt>
    <dgm:pt modelId="{0B409075-F905-4BC3-B823-83B130CAD20F}" type="pres">
      <dgm:prSet presAssocID="{BA250CB6-3416-465A-B5C6-9B4904044D2D}" presName="hierChild3" presStyleCnt="0"/>
      <dgm:spPr/>
    </dgm:pt>
    <dgm:pt modelId="{BDB02BD8-80E6-4AE6-8B02-0F3424B295B9}" type="pres">
      <dgm:prSet presAssocID="{C4F5E4E9-2A18-4FF7-BF83-669E062B5204}" presName="Name17" presStyleLbl="parChTrans1D3" presStyleIdx="0" presStyleCnt="2"/>
      <dgm:spPr/>
    </dgm:pt>
    <dgm:pt modelId="{D89C9EEA-783B-46D7-A897-1453E319FE1B}" type="pres">
      <dgm:prSet presAssocID="{1FA7CDCE-B185-459F-84EB-9C1A240292C7}" presName="hierRoot3" presStyleCnt="0"/>
      <dgm:spPr/>
    </dgm:pt>
    <dgm:pt modelId="{3B214269-64B2-4D12-8F6D-04F4596A5CB8}" type="pres">
      <dgm:prSet presAssocID="{1FA7CDCE-B185-459F-84EB-9C1A240292C7}" presName="composite3" presStyleCnt="0"/>
      <dgm:spPr/>
    </dgm:pt>
    <dgm:pt modelId="{9ED3E1BD-6A75-4B19-92B9-B14D30635A75}" type="pres">
      <dgm:prSet presAssocID="{1FA7CDCE-B185-459F-84EB-9C1A240292C7}" presName="image3" presStyleLbl="node3" presStyleIdx="0" presStyleCnt="2"/>
      <dgm:spPr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ouronne contour"/>
        </a:ext>
      </dgm:extLst>
    </dgm:pt>
    <dgm:pt modelId="{B3BCC02E-EE9D-4252-A945-12C8FF454F44}" type="pres">
      <dgm:prSet presAssocID="{1FA7CDCE-B185-459F-84EB-9C1A240292C7}" presName="text3" presStyleLbl="revTx" presStyleIdx="2" presStyleCnt="5">
        <dgm:presLayoutVars>
          <dgm:chPref val="3"/>
        </dgm:presLayoutVars>
      </dgm:prSet>
      <dgm:spPr/>
    </dgm:pt>
    <dgm:pt modelId="{D1DE0EC3-DDF7-441C-9C87-142288905A8B}" type="pres">
      <dgm:prSet presAssocID="{1FA7CDCE-B185-459F-84EB-9C1A240292C7}" presName="hierChild4" presStyleCnt="0"/>
      <dgm:spPr/>
    </dgm:pt>
    <dgm:pt modelId="{344D4377-EEBD-4C05-AAE0-5C067501981C}" type="pres">
      <dgm:prSet presAssocID="{7000B146-9119-40BE-839C-845E3C295319}" presName="Name17" presStyleLbl="parChTrans1D3" presStyleIdx="1" presStyleCnt="2"/>
      <dgm:spPr/>
    </dgm:pt>
    <dgm:pt modelId="{E14BD522-0A37-44F5-9743-2975ABD603A8}" type="pres">
      <dgm:prSet presAssocID="{A25639D8-3F93-4455-A046-84C5D285C2E2}" presName="hierRoot3" presStyleCnt="0"/>
      <dgm:spPr/>
    </dgm:pt>
    <dgm:pt modelId="{0D881766-03EA-46FA-8B3F-082D88492DA7}" type="pres">
      <dgm:prSet presAssocID="{A25639D8-3F93-4455-A046-84C5D285C2E2}" presName="composite3" presStyleCnt="0"/>
      <dgm:spPr/>
    </dgm:pt>
    <dgm:pt modelId="{C0F93DA4-9CDA-4C3C-ADA5-28219B0ECE03}" type="pres">
      <dgm:prSet presAssocID="{A25639D8-3F93-4455-A046-84C5D285C2E2}" presName="image3" presStyleLbl="node3" presStyleIdx="1" presStyleCnt="2"/>
      <dgm:spPr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rte aux machines à sous avec un remplissage uni"/>
        </a:ext>
      </dgm:extLst>
    </dgm:pt>
    <dgm:pt modelId="{4A7D73F0-9DB7-4A87-8424-939EEAD5AAF1}" type="pres">
      <dgm:prSet presAssocID="{A25639D8-3F93-4455-A046-84C5D285C2E2}" presName="text3" presStyleLbl="revTx" presStyleIdx="3" presStyleCnt="5">
        <dgm:presLayoutVars>
          <dgm:chPref val="3"/>
        </dgm:presLayoutVars>
      </dgm:prSet>
      <dgm:spPr/>
    </dgm:pt>
    <dgm:pt modelId="{643AD909-77A4-42E0-892D-431296FFE263}" type="pres">
      <dgm:prSet presAssocID="{A25639D8-3F93-4455-A046-84C5D285C2E2}" presName="hierChild4" presStyleCnt="0"/>
      <dgm:spPr/>
    </dgm:pt>
    <dgm:pt modelId="{2BE89CF7-F553-40B2-A448-C44271900384}" type="pres">
      <dgm:prSet presAssocID="{C7692AE1-00F1-49AA-B36F-9298AE32673D}" presName="Name10" presStyleLbl="parChTrans1D2" presStyleIdx="1" presStyleCnt="2"/>
      <dgm:spPr/>
    </dgm:pt>
    <dgm:pt modelId="{F6C74E4C-86B0-4445-95A1-B1F9A61895E1}" type="pres">
      <dgm:prSet presAssocID="{82303A5A-FA94-4BF0-B00C-A25884E22DD8}" presName="hierRoot2" presStyleCnt="0"/>
      <dgm:spPr/>
    </dgm:pt>
    <dgm:pt modelId="{12E35E59-6583-42F2-AB17-2BDFA53A821B}" type="pres">
      <dgm:prSet presAssocID="{82303A5A-FA94-4BF0-B00C-A25884E22DD8}" presName="composite2" presStyleCnt="0"/>
      <dgm:spPr/>
    </dgm:pt>
    <dgm:pt modelId="{679434DF-BA47-407E-B1D1-C7734DB19411}" type="pres">
      <dgm:prSet presAssocID="{82303A5A-FA94-4BF0-B00C-A25884E22DD8}" presName="image2" presStyleLbl="node2" presStyleIdx="1" presStyleCnt="2"/>
      <dgm:spPr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blier terminé avec un remplissage uni"/>
        </a:ext>
      </dgm:extLst>
    </dgm:pt>
    <dgm:pt modelId="{560BB7ED-E6A4-418E-B659-F476E65B7136}" type="pres">
      <dgm:prSet presAssocID="{82303A5A-FA94-4BF0-B00C-A25884E22DD8}" presName="text2" presStyleLbl="revTx" presStyleIdx="4" presStyleCnt="5">
        <dgm:presLayoutVars>
          <dgm:chPref val="3"/>
        </dgm:presLayoutVars>
      </dgm:prSet>
      <dgm:spPr/>
    </dgm:pt>
    <dgm:pt modelId="{0E3B2C62-8C93-4025-BFFD-30E892B33A54}" type="pres">
      <dgm:prSet presAssocID="{82303A5A-FA94-4BF0-B00C-A25884E22DD8}" presName="hierChild3" presStyleCnt="0"/>
      <dgm:spPr/>
    </dgm:pt>
  </dgm:ptLst>
  <dgm:cxnLst>
    <dgm:cxn modelId="{F59C8100-EC70-46E5-965F-FFE135D5DBC6}" srcId="{4000F0CE-BABE-471E-B0FA-5E6D9DD5278C}" destId="{82303A5A-FA94-4BF0-B00C-A25884E22DD8}" srcOrd="1" destOrd="0" parTransId="{C7692AE1-00F1-49AA-B36F-9298AE32673D}" sibTransId="{202B805C-6D71-42CF-B2AF-E4BF9EB1E853}"/>
    <dgm:cxn modelId="{A0889222-26CA-48DA-B61D-333F00A0D64E}" type="presOf" srcId="{A25639D8-3F93-4455-A046-84C5D285C2E2}" destId="{4A7D73F0-9DB7-4A87-8424-939EEAD5AAF1}" srcOrd="0" destOrd="0" presId="urn:microsoft.com/office/officeart/2009/layout/CirclePictureHierarchy"/>
    <dgm:cxn modelId="{E771DA3A-E206-4C9A-B8D4-72B18FA1EB0B}" srcId="{27DAB576-56F4-459F-A1E9-EDEE01B59831}" destId="{4000F0CE-BABE-471E-B0FA-5E6D9DD5278C}" srcOrd="0" destOrd="0" parTransId="{D4BCE276-8CF6-41B4-A185-7A77A9972862}" sibTransId="{70EE6702-2DF1-46F1-A990-772A5BFA688A}"/>
    <dgm:cxn modelId="{41F3083B-D46C-4DC2-802D-EB0B9C68DE99}" type="presOf" srcId="{C4F5E4E9-2A18-4FF7-BF83-669E062B5204}" destId="{BDB02BD8-80E6-4AE6-8B02-0F3424B295B9}" srcOrd="0" destOrd="0" presId="urn:microsoft.com/office/officeart/2009/layout/CirclePictureHierarchy"/>
    <dgm:cxn modelId="{4FF4AA3B-A219-4E52-8086-BA1B8B7AE87C}" type="presOf" srcId="{27DAB576-56F4-459F-A1E9-EDEE01B59831}" destId="{A58AEAA3-D351-45BA-BC1A-C79243DD8EA2}" srcOrd="0" destOrd="0" presId="urn:microsoft.com/office/officeart/2009/layout/CirclePictureHierarchy"/>
    <dgm:cxn modelId="{D3EF8863-4D80-4ABE-9A4C-281C7972DBDD}" srcId="{4000F0CE-BABE-471E-B0FA-5E6D9DD5278C}" destId="{BA250CB6-3416-465A-B5C6-9B4904044D2D}" srcOrd="0" destOrd="0" parTransId="{7F6D3267-EF6F-4111-97BF-54D134E2D997}" sibTransId="{9B51AE1F-A2CE-45E1-8ED0-29341EE363CA}"/>
    <dgm:cxn modelId="{B5765F47-C5EA-45AA-A953-5DD0B44622A8}" srcId="{BA250CB6-3416-465A-B5C6-9B4904044D2D}" destId="{A25639D8-3F93-4455-A046-84C5D285C2E2}" srcOrd="1" destOrd="0" parTransId="{7000B146-9119-40BE-839C-845E3C295319}" sibTransId="{49F6A489-46A7-4D82-BAA9-5C3426B086B5}"/>
    <dgm:cxn modelId="{5C0CDD84-8EB6-44AC-A8C5-14DCB620B081}" type="presOf" srcId="{C7692AE1-00F1-49AA-B36F-9298AE32673D}" destId="{2BE89CF7-F553-40B2-A448-C44271900384}" srcOrd="0" destOrd="0" presId="urn:microsoft.com/office/officeart/2009/layout/CirclePictureHierarchy"/>
    <dgm:cxn modelId="{7E0D6889-AB6E-444B-84B5-A85E89A3EEFD}" type="presOf" srcId="{7000B146-9119-40BE-839C-845E3C295319}" destId="{344D4377-EEBD-4C05-AAE0-5C067501981C}" srcOrd="0" destOrd="0" presId="urn:microsoft.com/office/officeart/2009/layout/CirclePictureHierarchy"/>
    <dgm:cxn modelId="{7EDD9CA2-0584-4FB9-9FAD-B3A47653EAC9}" type="presOf" srcId="{4000F0CE-BABE-471E-B0FA-5E6D9DD5278C}" destId="{4036D33D-90EC-4A4F-85E2-D9E92302B860}" srcOrd="0" destOrd="0" presId="urn:microsoft.com/office/officeart/2009/layout/CirclePictureHierarchy"/>
    <dgm:cxn modelId="{F4AAE3AC-DAD5-4AEC-AB6A-959EF500A519}" type="presOf" srcId="{BA250CB6-3416-465A-B5C6-9B4904044D2D}" destId="{A6776EC5-0743-49C7-A9F6-CA186AF40E5D}" srcOrd="0" destOrd="0" presId="urn:microsoft.com/office/officeart/2009/layout/CirclePictureHierarchy"/>
    <dgm:cxn modelId="{963890B0-58A8-4F65-8498-9F2D5799EF17}" type="presOf" srcId="{7F6D3267-EF6F-4111-97BF-54D134E2D997}" destId="{A8CE25FB-54C8-4516-A641-984F3E7F1008}" srcOrd="0" destOrd="0" presId="urn:microsoft.com/office/officeart/2009/layout/CirclePictureHierarchy"/>
    <dgm:cxn modelId="{71E718B8-2447-4258-B2E0-674C71BB853D}" srcId="{BA250CB6-3416-465A-B5C6-9B4904044D2D}" destId="{1FA7CDCE-B185-459F-84EB-9C1A240292C7}" srcOrd="0" destOrd="0" parTransId="{C4F5E4E9-2A18-4FF7-BF83-669E062B5204}" sibTransId="{F0B07FDE-DC19-4913-A9D5-ABE37FE2EB95}"/>
    <dgm:cxn modelId="{14BB47E8-6EB2-45D8-AAA3-0CC7C60D56B0}" type="presOf" srcId="{82303A5A-FA94-4BF0-B00C-A25884E22DD8}" destId="{560BB7ED-E6A4-418E-B659-F476E65B7136}" srcOrd="0" destOrd="0" presId="urn:microsoft.com/office/officeart/2009/layout/CirclePictureHierarchy"/>
    <dgm:cxn modelId="{1144D7F2-0586-4A64-A9B2-52BB16C1ED19}" type="presOf" srcId="{1FA7CDCE-B185-459F-84EB-9C1A240292C7}" destId="{B3BCC02E-EE9D-4252-A945-12C8FF454F44}" srcOrd="0" destOrd="0" presId="urn:microsoft.com/office/officeart/2009/layout/CirclePictureHierarchy"/>
    <dgm:cxn modelId="{581D5664-714C-44A0-A4D2-BA97F6FD9E8A}" type="presParOf" srcId="{A58AEAA3-D351-45BA-BC1A-C79243DD8EA2}" destId="{769D0520-1C10-4F61-B10D-5BAD1512047F}" srcOrd="0" destOrd="0" presId="urn:microsoft.com/office/officeart/2009/layout/CirclePictureHierarchy"/>
    <dgm:cxn modelId="{D3DE374A-710E-4EAE-8E06-816C56DC2840}" type="presParOf" srcId="{769D0520-1C10-4F61-B10D-5BAD1512047F}" destId="{78DD23A8-D2F9-4C0F-8549-2F918A88E107}" srcOrd="0" destOrd="0" presId="urn:microsoft.com/office/officeart/2009/layout/CirclePictureHierarchy"/>
    <dgm:cxn modelId="{7DF2A9FE-BAC3-4162-AB37-BE821B0E7E10}" type="presParOf" srcId="{78DD23A8-D2F9-4C0F-8549-2F918A88E107}" destId="{A97B2BC2-06B7-47F8-9F4C-FB06AF33250E}" srcOrd="0" destOrd="0" presId="urn:microsoft.com/office/officeart/2009/layout/CirclePictureHierarchy"/>
    <dgm:cxn modelId="{0047564D-C3A2-452E-B871-DF97786749CD}" type="presParOf" srcId="{78DD23A8-D2F9-4C0F-8549-2F918A88E107}" destId="{4036D33D-90EC-4A4F-85E2-D9E92302B860}" srcOrd="1" destOrd="0" presId="urn:microsoft.com/office/officeart/2009/layout/CirclePictureHierarchy"/>
    <dgm:cxn modelId="{0954D57D-E633-42E3-BE57-E33B9453BB0E}" type="presParOf" srcId="{769D0520-1C10-4F61-B10D-5BAD1512047F}" destId="{B0C8BEC2-AABB-4D7A-A30D-680F3733C4E4}" srcOrd="1" destOrd="0" presId="urn:microsoft.com/office/officeart/2009/layout/CirclePictureHierarchy"/>
    <dgm:cxn modelId="{005C7C28-7B0E-4AA6-917F-744B63AE294A}" type="presParOf" srcId="{B0C8BEC2-AABB-4D7A-A30D-680F3733C4E4}" destId="{A8CE25FB-54C8-4516-A641-984F3E7F1008}" srcOrd="0" destOrd="0" presId="urn:microsoft.com/office/officeart/2009/layout/CirclePictureHierarchy"/>
    <dgm:cxn modelId="{E35D116D-9FD7-4215-8F4D-F05338F67728}" type="presParOf" srcId="{B0C8BEC2-AABB-4D7A-A30D-680F3733C4E4}" destId="{50A24714-9224-4B8F-9B5F-01235B1B248A}" srcOrd="1" destOrd="0" presId="urn:microsoft.com/office/officeart/2009/layout/CirclePictureHierarchy"/>
    <dgm:cxn modelId="{53FB56A9-2BD0-4F94-BF93-F9906AB60625}" type="presParOf" srcId="{50A24714-9224-4B8F-9B5F-01235B1B248A}" destId="{CF9B4247-6DBF-414C-87EE-DFCCC07A56A5}" srcOrd="0" destOrd="0" presId="urn:microsoft.com/office/officeart/2009/layout/CirclePictureHierarchy"/>
    <dgm:cxn modelId="{79911527-D54F-4411-A76F-40C4E05FC149}" type="presParOf" srcId="{CF9B4247-6DBF-414C-87EE-DFCCC07A56A5}" destId="{FB75197F-441F-473F-A55E-54A7779FE8AC}" srcOrd="0" destOrd="0" presId="urn:microsoft.com/office/officeart/2009/layout/CirclePictureHierarchy"/>
    <dgm:cxn modelId="{92BFCBCB-34FD-418A-B109-17A7E6C8A6D8}" type="presParOf" srcId="{CF9B4247-6DBF-414C-87EE-DFCCC07A56A5}" destId="{A6776EC5-0743-49C7-A9F6-CA186AF40E5D}" srcOrd="1" destOrd="0" presId="urn:microsoft.com/office/officeart/2009/layout/CirclePictureHierarchy"/>
    <dgm:cxn modelId="{0149E394-86C1-4146-AE12-9C9746336CB9}" type="presParOf" srcId="{50A24714-9224-4B8F-9B5F-01235B1B248A}" destId="{0B409075-F905-4BC3-B823-83B130CAD20F}" srcOrd="1" destOrd="0" presId="urn:microsoft.com/office/officeart/2009/layout/CirclePictureHierarchy"/>
    <dgm:cxn modelId="{BEC567B6-495C-4352-A4FB-CA35BD16875F}" type="presParOf" srcId="{0B409075-F905-4BC3-B823-83B130CAD20F}" destId="{BDB02BD8-80E6-4AE6-8B02-0F3424B295B9}" srcOrd="0" destOrd="0" presId="urn:microsoft.com/office/officeart/2009/layout/CirclePictureHierarchy"/>
    <dgm:cxn modelId="{6B3A3FA9-9F18-4BBF-92AD-61868947B87E}" type="presParOf" srcId="{0B409075-F905-4BC3-B823-83B130CAD20F}" destId="{D89C9EEA-783B-46D7-A897-1453E319FE1B}" srcOrd="1" destOrd="0" presId="urn:microsoft.com/office/officeart/2009/layout/CirclePictureHierarchy"/>
    <dgm:cxn modelId="{78260D9C-37AB-46C5-8B05-A573B867CEF0}" type="presParOf" srcId="{D89C9EEA-783B-46D7-A897-1453E319FE1B}" destId="{3B214269-64B2-4D12-8F6D-04F4596A5CB8}" srcOrd="0" destOrd="0" presId="urn:microsoft.com/office/officeart/2009/layout/CirclePictureHierarchy"/>
    <dgm:cxn modelId="{4AE4F20B-BA31-411A-BBDB-9089D1F88E6E}" type="presParOf" srcId="{3B214269-64B2-4D12-8F6D-04F4596A5CB8}" destId="{9ED3E1BD-6A75-4B19-92B9-B14D30635A75}" srcOrd="0" destOrd="0" presId="urn:microsoft.com/office/officeart/2009/layout/CirclePictureHierarchy"/>
    <dgm:cxn modelId="{98A070EE-58CE-41E5-ADF3-EF8CD2A8CAA6}" type="presParOf" srcId="{3B214269-64B2-4D12-8F6D-04F4596A5CB8}" destId="{B3BCC02E-EE9D-4252-A945-12C8FF454F44}" srcOrd="1" destOrd="0" presId="urn:microsoft.com/office/officeart/2009/layout/CirclePictureHierarchy"/>
    <dgm:cxn modelId="{811FD417-2183-48F8-B422-A4B6C35187BD}" type="presParOf" srcId="{D89C9EEA-783B-46D7-A897-1453E319FE1B}" destId="{D1DE0EC3-DDF7-441C-9C87-142288905A8B}" srcOrd="1" destOrd="0" presId="urn:microsoft.com/office/officeart/2009/layout/CirclePictureHierarchy"/>
    <dgm:cxn modelId="{9467698A-2F2A-4B3A-A40B-28828B9EEF60}" type="presParOf" srcId="{0B409075-F905-4BC3-B823-83B130CAD20F}" destId="{344D4377-EEBD-4C05-AAE0-5C067501981C}" srcOrd="2" destOrd="0" presId="urn:microsoft.com/office/officeart/2009/layout/CirclePictureHierarchy"/>
    <dgm:cxn modelId="{1B896D9C-9950-46F9-BC21-AEFEFA800A27}" type="presParOf" srcId="{0B409075-F905-4BC3-B823-83B130CAD20F}" destId="{E14BD522-0A37-44F5-9743-2975ABD603A8}" srcOrd="3" destOrd="0" presId="urn:microsoft.com/office/officeart/2009/layout/CirclePictureHierarchy"/>
    <dgm:cxn modelId="{F576D575-D46A-473F-8F44-850F930A3221}" type="presParOf" srcId="{E14BD522-0A37-44F5-9743-2975ABD603A8}" destId="{0D881766-03EA-46FA-8B3F-082D88492DA7}" srcOrd="0" destOrd="0" presId="urn:microsoft.com/office/officeart/2009/layout/CirclePictureHierarchy"/>
    <dgm:cxn modelId="{F111CC75-DD99-4D48-98A7-23295884C4B5}" type="presParOf" srcId="{0D881766-03EA-46FA-8B3F-082D88492DA7}" destId="{C0F93DA4-9CDA-4C3C-ADA5-28219B0ECE03}" srcOrd="0" destOrd="0" presId="urn:microsoft.com/office/officeart/2009/layout/CirclePictureHierarchy"/>
    <dgm:cxn modelId="{65BCE058-8906-4EE3-A04D-FF18A2046FEA}" type="presParOf" srcId="{0D881766-03EA-46FA-8B3F-082D88492DA7}" destId="{4A7D73F0-9DB7-4A87-8424-939EEAD5AAF1}" srcOrd="1" destOrd="0" presId="urn:microsoft.com/office/officeart/2009/layout/CirclePictureHierarchy"/>
    <dgm:cxn modelId="{C7C29210-7E59-4218-9728-D6C658D15F8A}" type="presParOf" srcId="{E14BD522-0A37-44F5-9743-2975ABD603A8}" destId="{643AD909-77A4-42E0-892D-431296FFE263}" srcOrd="1" destOrd="0" presId="urn:microsoft.com/office/officeart/2009/layout/CirclePictureHierarchy"/>
    <dgm:cxn modelId="{70252CEF-3367-4940-B0AE-2459BCDC3327}" type="presParOf" srcId="{B0C8BEC2-AABB-4D7A-A30D-680F3733C4E4}" destId="{2BE89CF7-F553-40B2-A448-C44271900384}" srcOrd="2" destOrd="0" presId="urn:microsoft.com/office/officeart/2009/layout/CirclePictureHierarchy"/>
    <dgm:cxn modelId="{68C782C6-B5CA-4FCF-8924-011FBD9127F5}" type="presParOf" srcId="{B0C8BEC2-AABB-4D7A-A30D-680F3733C4E4}" destId="{F6C74E4C-86B0-4445-95A1-B1F9A61895E1}" srcOrd="3" destOrd="0" presId="urn:microsoft.com/office/officeart/2009/layout/CirclePictureHierarchy"/>
    <dgm:cxn modelId="{EEEB9C3A-8AA5-408C-965A-02D24F259ADF}" type="presParOf" srcId="{F6C74E4C-86B0-4445-95A1-B1F9A61895E1}" destId="{12E35E59-6583-42F2-AB17-2BDFA53A821B}" srcOrd="0" destOrd="0" presId="urn:microsoft.com/office/officeart/2009/layout/CirclePictureHierarchy"/>
    <dgm:cxn modelId="{41019C55-72CF-414A-8F9B-EC9211C3F1B0}" type="presParOf" srcId="{12E35E59-6583-42F2-AB17-2BDFA53A821B}" destId="{679434DF-BA47-407E-B1D1-C7734DB19411}" srcOrd="0" destOrd="0" presId="urn:microsoft.com/office/officeart/2009/layout/CirclePictureHierarchy"/>
    <dgm:cxn modelId="{24BD5AA4-85BD-4986-883F-19C66C7D246D}" type="presParOf" srcId="{12E35E59-6583-42F2-AB17-2BDFA53A821B}" destId="{560BB7ED-E6A4-418E-B659-F476E65B7136}" srcOrd="1" destOrd="0" presId="urn:microsoft.com/office/officeart/2009/layout/CirclePictureHierarchy"/>
    <dgm:cxn modelId="{EE5CF308-09F4-40D5-8651-449EE42957BD}" type="presParOf" srcId="{F6C74E4C-86B0-4445-95A1-B1F9A61895E1}" destId="{0E3B2C62-8C93-4025-BFFD-30E892B33A54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E89CF7-F553-40B2-A448-C44271900384}">
      <dsp:nvSpPr>
        <dsp:cNvPr id="0" name=""/>
        <dsp:cNvSpPr/>
      </dsp:nvSpPr>
      <dsp:spPr>
        <a:xfrm>
          <a:off x="4101848" y="704300"/>
          <a:ext cx="932656" cy="2136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679"/>
              </a:lnTo>
              <a:lnTo>
                <a:pt x="932656" y="107679"/>
              </a:lnTo>
              <a:lnTo>
                <a:pt x="932656" y="2136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4D4377-EEBD-4C05-AAE0-5C067501981C}">
      <dsp:nvSpPr>
        <dsp:cNvPr id="0" name=""/>
        <dsp:cNvSpPr/>
      </dsp:nvSpPr>
      <dsp:spPr>
        <a:xfrm>
          <a:off x="3169191" y="1596259"/>
          <a:ext cx="932656" cy="2136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7679"/>
              </a:lnTo>
              <a:lnTo>
                <a:pt x="932656" y="107679"/>
              </a:lnTo>
              <a:lnTo>
                <a:pt x="932656" y="21366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DB02BD8-80E6-4AE6-8B02-0F3424B295B9}">
      <dsp:nvSpPr>
        <dsp:cNvPr id="0" name=""/>
        <dsp:cNvSpPr/>
      </dsp:nvSpPr>
      <dsp:spPr>
        <a:xfrm>
          <a:off x="2236534" y="1596259"/>
          <a:ext cx="932656" cy="213663"/>
        </a:xfrm>
        <a:custGeom>
          <a:avLst/>
          <a:gdLst/>
          <a:ahLst/>
          <a:cxnLst/>
          <a:rect l="0" t="0" r="0" b="0"/>
          <a:pathLst>
            <a:path>
              <a:moveTo>
                <a:pt x="932656" y="0"/>
              </a:moveTo>
              <a:lnTo>
                <a:pt x="932656" y="107679"/>
              </a:lnTo>
              <a:lnTo>
                <a:pt x="0" y="107679"/>
              </a:lnTo>
              <a:lnTo>
                <a:pt x="0" y="213663"/>
              </a:lnTo>
            </a:path>
          </a:pathLst>
        </a:custGeom>
        <a:noFill/>
        <a:ln w="1905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CE25FB-54C8-4516-A641-984F3E7F1008}">
      <dsp:nvSpPr>
        <dsp:cNvPr id="0" name=""/>
        <dsp:cNvSpPr/>
      </dsp:nvSpPr>
      <dsp:spPr>
        <a:xfrm>
          <a:off x="3169191" y="704300"/>
          <a:ext cx="932656" cy="213663"/>
        </a:xfrm>
        <a:custGeom>
          <a:avLst/>
          <a:gdLst/>
          <a:ahLst/>
          <a:cxnLst/>
          <a:rect l="0" t="0" r="0" b="0"/>
          <a:pathLst>
            <a:path>
              <a:moveTo>
                <a:pt x="932656" y="0"/>
              </a:moveTo>
              <a:lnTo>
                <a:pt x="932656" y="107679"/>
              </a:lnTo>
              <a:lnTo>
                <a:pt x="0" y="107679"/>
              </a:lnTo>
              <a:lnTo>
                <a:pt x="0" y="213663"/>
              </a:lnTo>
            </a:path>
          </a:pathLst>
        </a:custGeom>
        <a:noFill/>
        <a:ln w="1905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7B2BC2-06B7-47F8-9F4C-FB06AF33250E}">
      <dsp:nvSpPr>
        <dsp:cNvPr id="0" name=""/>
        <dsp:cNvSpPr/>
      </dsp:nvSpPr>
      <dsp:spPr>
        <a:xfrm>
          <a:off x="3762700" y="26005"/>
          <a:ext cx="678295" cy="678295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36D33D-90EC-4A4F-85E2-D9E92302B860}">
      <dsp:nvSpPr>
        <dsp:cNvPr id="0" name=""/>
        <dsp:cNvSpPr/>
      </dsp:nvSpPr>
      <dsp:spPr>
        <a:xfrm>
          <a:off x="4440995" y="24309"/>
          <a:ext cx="1017443" cy="678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Décision</a:t>
          </a:r>
        </a:p>
      </dsp:txBody>
      <dsp:txXfrm>
        <a:off x="4440995" y="24309"/>
        <a:ext cx="1017443" cy="678295"/>
      </dsp:txXfrm>
    </dsp:sp>
    <dsp:sp modelId="{FB75197F-441F-473F-A55E-54A7779FE8AC}">
      <dsp:nvSpPr>
        <dsp:cNvPr id="0" name=""/>
        <dsp:cNvSpPr/>
      </dsp:nvSpPr>
      <dsp:spPr>
        <a:xfrm>
          <a:off x="2830043" y="917963"/>
          <a:ext cx="678295" cy="678295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776EC5-0743-49C7-A9F6-CA186AF40E5D}">
      <dsp:nvSpPr>
        <dsp:cNvPr id="0" name=""/>
        <dsp:cNvSpPr/>
      </dsp:nvSpPr>
      <dsp:spPr>
        <a:xfrm>
          <a:off x="3508339" y="916268"/>
          <a:ext cx="1017443" cy="678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Investir</a:t>
          </a:r>
        </a:p>
      </dsp:txBody>
      <dsp:txXfrm>
        <a:off x="3508339" y="916268"/>
        <a:ext cx="1017443" cy="678295"/>
      </dsp:txXfrm>
    </dsp:sp>
    <dsp:sp modelId="{9ED3E1BD-6A75-4B19-92B9-B14D30635A75}">
      <dsp:nvSpPr>
        <dsp:cNvPr id="0" name=""/>
        <dsp:cNvSpPr/>
      </dsp:nvSpPr>
      <dsp:spPr>
        <a:xfrm>
          <a:off x="1897386" y="1809922"/>
          <a:ext cx="678295" cy="678295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BCC02E-EE9D-4252-A945-12C8FF454F44}">
      <dsp:nvSpPr>
        <dsp:cNvPr id="0" name=""/>
        <dsp:cNvSpPr/>
      </dsp:nvSpPr>
      <dsp:spPr>
        <a:xfrm>
          <a:off x="2575682" y="1808227"/>
          <a:ext cx="1017443" cy="678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Succès</a:t>
          </a:r>
        </a:p>
      </dsp:txBody>
      <dsp:txXfrm>
        <a:off x="2575682" y="1808227"/>
        <a:ext cx="1017443" cy="678295"/>
      </dsp:txXfrm>
    </dsp:sp>
    <dsp:sp modelId="{C0F93DA4-9CDA-4C3C-ADA5-28219B0ECE03}">
      <dsp:nvSpPr>
        <dsp:cNvPr id="0" name=""/>
        <dsp:cNvSpPr/>
      </dsp:nvSpPr>
      <dsp:spPr>
        <a:xfrm>
          <a:off x="3762700" y="1809922"/>
          <a:ext cx="678295" cy="678295"/>
        </a:xfrm>
        <a:prstGeom prst="ellipse">
          <a:avLst/>
        </a:prstGeom>
        <a:blipFill>
          <a:blip xmlns:r="http://schemas.openxmlformats.org/officeDocument/2006/relationships"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A7D73F0-9DB7-4A87-8424-939EEAD5AAF1}">
      <dsp:nvSpPr>
        <dsp:cNvPr id="0" name=""/>
        <dsp:cNvSpPr/>
      </dsp:nvSpPr>
      <dsp:spPr>
        <a:xfrm>
          <a:off x="4440995" y="1808227"/>
          <a:ext cx="1017443" cy="678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échec</a:t>
          </a:r>
        </a:p>
      </dsp:txBody>
      <dsp:txXfrm>
        <a:off x="4440995" y="1808227"/>
        <a:ext cx="1017443" cy="678295"/>
      </dsp:txXfrm>
    </dsp:sp>
    <dsp:sp modelId="{679434DF-BA47-407E-B1D1-C7734DB19411}">
      <dsp:nvSpPr>
        <dsp:cNvPr id="0" name=""/>
        <dsp:cNvSpPr/>
      </dsp:nvSpPr>
      <dsp:spPr>
        <a:xfrm>
          <a:off x="4695356" y="917963"/>
          <a:ext cx="678295" cy="678295"/>
        </a:xfrm>
        <a:prstGeom prst="ellipse">
          <a:avLst/>
        </a:prstGeom>
        <a:blipFill>
          <a:blip xmlns:r="http://schemas.openxmlformats.org/officeDocument/2006/relationships"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0BB7ED-E6A4-418E-B659-F476E65B7136}">
      <dsp:nvSpPr>
        <dsp:cNvPr id="0" name=""/>
        <dsp:cNvSpPr/>
      </dsp:nvSpPr>
      <dsp:spPr>
        <a:xfrm>
          <a:off x="5373652" y="916268"/>
          <a:ext cx="1017443" cy="6782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fr-FR" sz="1900" kern="12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rPr>
            <a:t>Ne pas investir</a:t>
          </a:r>
        </a:p>
      </dsp:txBody>
      <dsp:txXfrm>
        <a:off x="5373652" y="916268"/>
        <a:ext cx="1017443" cy="67829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84500" cy="501650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075" y="1"/>
            <a:ext cx="2984500" cy="501650"/>
          </a:xfrm>
          <a:prstGeom prst="rect">
            <a:avLst/>
          </a:prstGeom>
        </p:spPr>
        <p:txBody>
          <a:bodyPr vert="horz" lIns="91413" tIns="45706" rIns="91413" bIns="45706" rtlCol="0"/>
          <a:lstStyle>
            <a:lvl1pPr algn="r">
              <a:defRPr sz="1200"/>
            </a:lvl1pPr>
          </a:lstStyle>
          <a:p>
            <a:fld id="{1BA53F3A-C63A-4BF4-8CAA-771AEA5FEE0D}" type="datetimeFigureOut">
              <a:rPr lang="fr-FR" smtClean="0"/>
              <a:t>12/01/2025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13" tIns="45706" rIns="91413" bIns="45706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8" y="4821242"/>
            <a:ext cx="5510213" cy="3944937"/>
          </a:xfrm>
          <a:prstGeom prst="rect">
            <a:avLst/>
          </a:prstGeom>
        </p:spPr>
        <p:txBody>
          <a:bodyPr vert="horz" lIns="91413" tIns="45706" rIns="91413" bIns="45706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7063"/>
            <a:ext cx="2984500" cy="501650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075" y="9517063"/>
            <a:ext cx="2984500" cy="501650"/>
          </a:xfrm>
          <a:prstGeom prst="rect">
            <a:avLst/>
          </a:prstGeom>
        </p:spPr>
        <p:txBody>
          <a:bodyPr vert="horz" lIns="91413" tIns="45706" rIns="91413" bIns="45706" rtlCol="0" anchor="b"/>
          <a:lstStyle>
            <a:lvl1pPr algn="r">
              <a:defRPr sz="1200"/>
            </a:lvl1pPr>
          </a:lstStyle>
          <a:p>
            <a:fld id="{A8459FF1-B952-48B7-98D8-39165E61CA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460362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Voici le sommaire de cette présentation qui respecte le plan de présentation proposé en brief de projet.</a:t>
            </a:r>
          </a:p>
          <a:p>
            <a:endParaRPr lang="fr-FR" dirty="0"/>
          </a:p>
          <a:p>
            <a:r>
              <a:rPr lang="fr-FR" dirty="0"/>
              <a:t>Cette présentation est articulée en 3 grandes étapes : </a:t>
            </a:r>
          </a:p>
          <a:p>
            <a:pPr marL="228531" indent="-228531">
              <a:buAutoNum type="arabicPeriod"/>
            </a:pPr>
            <a:r>
              <a:rPr lang="fr-FR" dirty="0"/>
              <a:t>La préparation des données : nettoyage, exploration des données, </a:t>
            </a:r>
            <a:r>
              <a:rPr lang="fr-FR" dirty="0" err="1"/>
              <a:t>features</a:t>
            </a:r>
            <a:r>
              <a:rPr lang="fr-FR" dirty="0"/>
              <a:t> engineering</a:t>
            </a:r>
          </a:p>
          <a:p>
            <a:pPr marL="228531" indent="-228531">
              <a:buAutoNum type="arabicPeriod"/>
            </a:pPr>
            <a:r>
              <a:rPr lang="fr-FR" dirty="0"/>
              <a:t>La modélisation à travers des simulations de plusieurs algorithmes ainsi que les perspectives d’optimisation du modèle sélectionné</a:t>
            </a:r>
          </a:p>
          <a:p>
            <a:pPr marL="228531" indent="-228531">
              <a:buAutoNum type="arabicPeriod"/>
            </a:pPr>
            <a:r>
              <a:rPr lang="fr-FR" dirty="0"/>
              <a:t>La mise en place et le déploiement d’un tableau de bord à l’attention des chargés de la relation client</a:t>
            </a:r>
          </a:p>
          <a:p>
            <a:endParaRPr lang="fr-FR" dirty="0"/>
          </a:p>
          <a:p>
            <a:r>
              <a:rPr lang="fr-FR" dirty="0"/>
              <a:t>La méthodologie pour traiter ce projet est inspirée de la méthode CRISP-DM (Cross </a:t>
            </a:r>
            <a:r>
              <a:rPr lang="fr-FR" dirty="0" err="1"/>
              <a:t>Industry</a:t>
            </a:r>
            <a:r>
              <a:rPr lang="fr-FR" dirty="0"/>
              <a:t> Standard Process for Data Mining) qui comporte 6 grandes phases :</a:t>
            </a:r>
          </a:p>
          <a:p>
            <a:pPr marL="228531" indent="-228531">
              <a:buAutoNum type="arabicPeriod"/>
            </a:pPr>
            <a:r>
              <a:rPr lang="fr-FR" dirty="0"/>
              <a:t>Comprendre l’entreprise</a:t>
            </a:r>
          </a:p>
          <a:p>
            <a:pPr marL="228531" indent="-228531">
              <a:buAutoNum type="arabicPeriod"/>
            </a:pPr>
            <a:r>
              <a:rPr lang="fr-FR" dirty="0"/>
              <a:t>Comprendre les données</a:t>
            </a:r>
          </a:p>
          <a:p>
            <a:pPr marL="228531" indent="-228531">
              <a:buAutoNum type="arabicPeriod"/>
            </a:pPr>
            <a:r>
              <a:rPr lang="fr-FR" dirty="0"/>
              <a:t>Préparer les données</a:t>
            </a:r>
          </a:p>
          <a:p>
            <a:pPr marL="228531" indent="-228531">
              <a:buAutoNum type="arabicPeriod"/>
            </a:pPr>
            <a:r>
              <a:rPr lang="fr-FR" dirty="0"/>
              <a:t>Modéliser</a:t>
            </a:r>
          </a:p>
          <a:p>
            <a:pPr marL="228531" indent="-228531">
              <a:buAutoNum type="arabicPeriod"/>
            </a:pPr>
            <a:r>
              <a:rPr lang="fr-FR" dirty="0"/>
              <a:t>Évaluer la modélisation</a:t>
            </a:r>
          </a:p>
          <a:p>
            <a:pPr marL="228531" indent="-228531">
              <a:buAutoNum type="arabicPeriod"/>
            </a:pPr>
            <a:r>
              <a:rPr lang="fr-FR" dirty="0"/>
              <a:t>Déployer le modèle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2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67289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52902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2B626-E319-3A8E-9D84-E78CAB352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DCA276AD-1451-9E79-F6E0-16392AC66F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AA834D9-72B4-647E-4558-DAA68C4C0E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D9A2007-832A-E05B-675E-4752B814AB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64186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2E0600-69E6-6C74-EF21-0F0EEA7D1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1AECE1F-FFD7-E67A-6637-6257C2572C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385460F7-A24B-FD42-2591-202A843F87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639B74-4695-EA8F-CBA9-7D6B5D7696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1406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1CB1DC-5A2D-127C-52BD-2861C70D99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0F76940-5DCE-81E1-259F-76D4520099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368FB26-DCB3-A544-2997-3256BB6CAA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753D198-D51D-A18C-425E-79016BFA21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137100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46EF6-D3EE-5A87-EA92-C5F191A45C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5B618E7-B011-472E-D46C-4FBFD98162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C07A9745-C4A7-B65E-7AB8-765A712F07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7B605FF-F96E-E7A5-817C-011224C0CB5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3470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8ECDE-1194-CC66-3FE3-4BFC0174F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917585E2-5031-C9D4-C9F1-A33468119F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23CC1F7-895E-421B-F357-EEDBEEED76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F71AAA2-CADF-9C89-2D5A-8459BBD2BA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7378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F9BAB5-0DE0-6151-CFA0-34D93F9429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FEE634C-D72F-4B70-C44F-986A20FB9F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731273C-B02E-AB7F-2D45-1900B44ECA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3A3811E-EA68-6A63-4152-DDB581BCF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83331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10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8277656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1B28A-2FE0-AE51-4B5A-190F5E603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DA850E9-380F-2DCD-4C4D-C3074B2D8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A375B1B-8BA2-667D-2BB2-7FFEF88BF10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539CE09-EB99-5157-6CF6-5B46389AD1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11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434330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52C19-C6D5-D384-8813-E10DF6D7BE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E7541ED-04FC-07D7-196F-B832247597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87317E1-0CFC-98EF-615F-93987783DB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1F94A30-4501-36C4-4DAC-2016DDC740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1452492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2A8E5-BE35-2548-A665-71F4361B7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FD25B9B-826A-29A7-8DB5-523B36613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D3CF0BB-1E34-B5E7-FBB1-DA0720197F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7CAC05E4-A608-8596-D181-7EEFE64847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374991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6A0DC-FFAA-82B3-B63D-07872F03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C6A11A3-22D5-1C54-D579-A89D160ED9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FB0EE0B-A563-5770-9C52-A577F260AD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8253E97-4D88-6C34-D90A-BDE74C3FD4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45372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7D1C5-E467-7E59-C1A5-2EE2E278A1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864F0DE-9360-9C3B-2716-33131C0AB8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6E9E621-520C-9737-1278-C39EDDCD48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80C0EE-4577-B5BA-4A78-DC36D8AC075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8506918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DFA624-7300-5DD0-20A1-B9B67ADC7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92978A3-7BF3-0A66-B262-9EF22DE245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803E781D-915F-052E-B8EB-D8C77A079F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0FB1F29-3C8B-6813-7FA8-029EF4E9B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16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927368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A27E4-1711-B900-9B97-95E68B88B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488FFB4-7C6D-07B8-7F6C-76C466E31A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3BFA02E-8524-FB44-7DC3-B8D239A0EA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465A3F8A-EB65-7C9F-A963-DD24E2CA6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27168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5AFD3-E872-9F90-EBE9-7175753877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EEC2DE0-4CE7-A079-FA37-08F7FAE3BE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4A47875-54E5-B01B-A92C-0F3D975D7D2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F59F258-6CBF-11B5-9B1A-B718DF048AA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18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83724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D295E-801D-E445-A499-0B06F8D83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71FF29B-9670-88F3-F996-428B067C99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DA47C91-ED17-5F1A-A7F5-BD98DA9045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84EB50C-58B1-31D0-6ABD-AD6383751C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0345863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ED5352-7513-29D8-65DE-9C2BC5EF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0CD4881-F4E9-EE55-5402-5D4EC478EF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FFD9ED8-E4E1-5507-0318-351885A6D0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3083CB82-37A7-9922-56C7-0DBEAFA671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20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5173264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42B85-79F8-90CF-8949-4C5910B82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FE9AD10-1D1E-DE91-9EC8-CF341FA5A4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661CD53-1812-6138-D36E-58B869F572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2DB7368-2EA0-6121-2C3B-12D23EC2CB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21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9826682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32A51-00F9-6E75-9355-FA5FF1BCE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7D53749C-B04F-BC5F-0E31-3E6ED9C43F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2F567A9-3A06-4771-3D3A-355E2FAD60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A8256DD-E3C0-CEA0-62CE-2BA49FAC08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22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880238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2E0F-D375-F495-546D-60949B7FE8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A608307-7A5D-29DB-30F6-80766CFD5E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6963D0C5-EDAF-056B-F5D5-A50A5459F5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D903E1A-A128-0248-D710-C637EA93CB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807383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888EDD-D5D4-894E-360E-3C1548D28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8421195-98D9-C1E9-497E-E6B14EB91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F8410A7B-01B3-31F9-8701-413DB8A65B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9535808-4431-3121-1C51-928B5D5B16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3567827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273D75-8F9B-F2A3-92A4-55282A41F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05FCEA78-A3EC-F78E-FB18-D2A9882F4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A16A24A2-0BAD-09E6-BC9C-471BDF41C4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85C72B9-1005-8A35-B807-DB3DB93977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25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116321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F7847-2943-B2AF-0401-19B55905C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E6C477E-6D8C-2F55-7177-5C3D6E408A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7C9E058D-06AF-F4FF-C2B6-161BC6E14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A101500C-0B20-1C21-F505-9C0F315978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26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9967955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74C4D9-0794-4FFE-16B8-17B01CBD0B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CCB3901E-E913-10DF-4536-7A36C04459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10DBAD61-21F0-6140-46BC-57BA3ADCE8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870DA2A-0254-FF78-900D-0ED5945CDA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27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454753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FF39A7-661C-D939-E296-EFA618E58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B9D0323D-6D85-31C8-83AD-E6409AD726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CA1F829-07F1-4B57-48C2-17F754B807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B75F62-E5BE-B7F0-ED71-5CE4872070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28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115866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D1B65-896F-61F8-A065-9FD571284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6B0D2487-471A-692A-C0A5-B9A3F8EBAD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EB8247C-9BBF-31F5-8459-EE8175E426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20CF666-3CF6-3A85-4150-3D2344BDB0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29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4640385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Il existe différentes méthodes de modélisation pour le crédit </a:t>
            </a:r>
            <a:r>
              <a:rPr lang="fr-FR" dirty="0" err="1"/>
              <a:t>scoring</a:t>
            </a:r>
            <a:r>
              <a:rPr lang="fr-FR" dirty="0"/>
              <a:t> qui se sont développées au fil des années.</a:t>
            </a:r>
          </a:p>
          <a:p>
            <a:endParaRPr lang="fr-FR" dirty="0"/>
          </a:p>
          <a:p>
            <a:r>
              <a:rPr lang="fr-FR" dirty="0"/>
              <a:t>Elles peuvent être paramétriques ou non, basées sur l’apprentissage automatique ou des algorithmes supervisés ou non.</a:t>
            </a:r>
          </a:p>
          <a:p>
            <a:endParaRPr lang="fr-FR" dirty="0"/>
          </a:p>
          <a:p>
            <a:r>
              <a:rPr lang="fr-FR" dirty="0"/>
              <a:t>Parmi ces techniques de modélisation, le modèle de fiche d’évaluation de risque crédit sort du lot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459FF1-B952-48B7-98D8-39165E61CABA}" type="slidenum">
              <a:rPr lang="fr-FR" smtClean="0"/>
              <a:t>30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092582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 useBgFill="1">
        <p:nvSpPr>
          <p:cNvPr id="12" name="Freeform 11"/>
          <p:cNvSpPr/>
          <p:nvPr/>
        </p:nvSpPr>
        <p:spPr>
          <a:xfrm>
            <a:off x="-15875" y="0"/>
            <a:ext cx="11683810" cy="6588125"/>
          </a:xfrm>
          <a:custGeom>
            <a:avLst/>
            <a:gdLst/>
            <a:ahLst/>
            <a:cxnLst/>
            <a:rect l="l" t="t" r="r" b="b"/>
            <a:pathLst>
              <a:path w="11683810" h="6588125">
                <a:moveTo>
                  <a:pt x="0" y="0"/>
                </a:moveTo>
                <a:lnTo>
                  <a:pt x="11318691" y="0"/>
                </a:lnTo>
                <a:lnTo>
                  <a:pt x="11683810" y="5976938"/>
                </a:lnTo>
                <a:lnTo>
                  <a:pt x="15875" y="6588125"/>
                </a:lnTo>
                <a:cubicBezTo>
                  <a:pt x="10583" y="4386792"/>
                  <a:pt x="5292" y="2185458"/>
                  <a:pt x="0" y="0"/>
                </a:cubicBezTo>
                <a:close/>
              </a:path>
            </a:pathLst>
          </a:custGeom>
          <a:ln>
            <a:noFill/>
          </a:ln>
          <a:effectLst>
            <a:outerShdw blurRad="101600" dist="152400" dir="4380000" algn="tl" rotWithShape="0">
              <a:srgbClr val="000000">
                <a:alpha val="4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Freeform 13"/>
          <p:cNvSpPr/>
          <p:nvPr/>
        </p:nvSpPr>
        <p:spPr>
          <a:xfrm>
            <a:off x="0" y="4282257"/>
            <a:ext cx="11329257" cy="2028845"/>
          </a:xfrm>
          <a:custGeom>
            <a:avLst/>
            <a:gdLst/>
            <a:ahLst/>
            <a:cxnLst/>
            <a:rect l="l" t="t" r="r" b="b"/>
            <a:pathLst>
              <a:path w="11329257" h="2028845">
                <a:moveTo>
                  <a:pt x="0" y="588520"/>
                </a:moveTo>
                <a:lnTo>
                  <a:pt x="11244075" y="0"/>
                </a:lnTo>
                <a:lnTo>
                  <a:pt x="11329257" y="1424838"/>
                </a:lnTo>
                <a:lnTo>
                  <a:pt x="0" y="2028845"/>
                </a:lnTo>
                <a:lnTo>
                  <a:pt x="0" y="58852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6" name="Freeform 25"/>
          <p:cNvSpPr/>
          <p:nvPr/>
        </p:nvSpPr>
        <p:spPr>
          <a:xfrm>
            <a:off x="0" y="0"/>
            <a:ext cx="8719579" cy="456877"/>
          </a:xfrm>
          <a:custGeom>
            <a:avLst/>
            <a:gdLst/>
            <a:ahLst/>
            <a:cxnLst/>
            <a:rect l="l" t="t" r="r" b="b"/>
            <a:pathLst>
              <a:path w="8719579" h="456877">
                <a:moveTo>
                  <a:pt x="0" y="0"/>
                </a:moveTo>
                <a:lnTo>
                  <a:pt x="8719579" y="0"/>
                </a:lnTo>
                <a:lnTo>
                  <a:pt x="0" y="456877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Freeform 14"/>
          <p:cNvSpPr/>
          <p:nvPr/>
        </p:nvSpPr>
        <p:spPr>
          <a:xfrm rot="21420000">
            <a:off x="-161800" y="293317"/>
            <a:ext cx="11367116" cy="5751804"/>
          </a:xfrm>
          <a:custGeom>
            <a:avLst/>
            <a:gdLst/>
            <a:ahLst/>
            <a:cxnLst/>
            <a:rect l="l" t="t" r="r" b="b"/>
            <a:pathLst>
              <a:path w="11367116" h="5751804">
                <a:moveTo>
                  <a:pt x="11346705" y="0"/>
                </a:moveTo>
                <a:cubicBezTo>
                  <a:pt x="11353509" y="1915114"/>
                  <a:pt x="11360312" y="3830229"/>
                  <a:pt x="11367116" y="5745343"/>
                </a:cubicBezTo>
                <a:lnTo>
                  <a:pt x="0" y="5751804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891201" y="662656"/>
            <a:ext cx="9755187" cy="2766528"/>
          </a:xfrm>
        </p:spPr>
        <p:txBody>
          <a:bodyPr anchor="b">
            <a:normAutofit/>
          </a:bodyPr>
          <a:lstStyle>
            <a:lvl1pPr algn="r">
              <a:defRPr sz="80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983062" y="3505209"/>
            <a:ext cx="9755187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8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21420000">
            <a:off x="4948541" y="4578463"/>
            <a:ext cx="6143653" cy="1163112"/>
          </a:xfrm>
        </p:spPr>
        <p:txBody>
          <a:bodyPr/>
          <a:lstStyle>
            <a:lvl1pPr algn="ctr">
              <a:defRPr sz="54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F7AFFB9B-9FB8-469E-96F9-4D32314110B6}" type="datetimeFigureOut">
              <a:rPr lang="en-US" dirty="0"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21420000">
            <a:off x="-5560" y="4883024"/>
            <a:ext cx="4047239" cy="1195538"/>
          </a:xfrm>
        </p:spPr>
        <p:txBody>
          <a:bodyPr vert="horz" lIns="91440" tIns="45720" rIns="91440" bIns="45720" rtlCol="0" anchor="ctr"/>
          <a:lstStyle>
            <a:lvl1pPr algn="r">
              <a:defRPr lang="en-US" sz="5400" dirty="0"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21420000">
            <a:off x="9851758" y="3832648"/>
            <a:ext cx="907186" cy="498470"/>
          </a:xfrm>
        </p:spPr>
        <p:txBody>
          <a:bodyPr/>
          <a:lstStyle>
            <a:lvl1pPr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5" name="5-Point Star 24"/>
          <p:cNvSpPr/>
          <p:nvPr/>
        </p:nvSpPr>
        <p:spPr>
          <a:xfrm rot="21420000">
            <a:off x="4221385" y="5111356"/>
            <a:ext cx="515386" cy="515386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10394707" cy="3311189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C9B7DAF5-83D8-4277-96BB-D2BFD92809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6952490F-A408-4529-864D-5386BB4D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31A6F0D4-117E-41E1-8F72-8AFB593F9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3742267"/>
            <a:ext cx="10394707" cy="1639614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D270A564-64C4-4E70-B181-A83387545E5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701A9C42-1DF1-4BED-8FDD-7FA6E9BEF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ADC9D393-ABA0-4482-B6B5-A6B30EEB4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814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800" y="2063396"/>
            <a:ext cx="5088714" cy="3311189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5993971" y="2063396"/>
            <a:ext cx="5086538" cy="3311189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9BE07D0B-0E0D-4BD3-A477-9BD5ADD450E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3C4C310A-EBAE-410F-A16A-6D7AA33C4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369EF998-FEE0-45FC-BE7A-583F6CC27B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4707" cy="1158140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8356" y="2063396"/>
            <a:ext cx="4856158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802" y="2861733"/>
            <a:ext cx="5088712" cy="2512852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8191" y="2063396"/>
            <a:ext cx="486449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5993969" y="2861733"/>
            <a:ext cx="5088713" cy="2512852"/>
          </a:xfrm>
        </p:spPr>
        <p:txBody>
          <a:bodyPr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81B0CE27-62E5-43CB-A356-076A23D5E5F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63C37E7D-A8D6-4AC6-A267-F75ECA8FD3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D56D8244-87C8-442C-8FA4-3C1F9C1E8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6" name="Date Placeholder 1">
            <a:extLst>
              <a:ext uri="{FF2B5EF4-FFF2-40B4-BE49-F238E27FC236}">
                <a16:creationId xmlns:a16="http://schemas.microsoft.com/office/drawing/2014/main" id="{19F99915-1AA4-4D30-82C1-A18587965A9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7" name="Footer Placeholder 2">
            <a:extLst>
              <a:ext uri="{FF2B5EF4-FFF2-40B4-BE49-F238E27FC236}">
                <a16:creationId xmlns:a16="http://schemas.microsoft.com/office/drawing/2014/main" id="{C7C15E72-F507-4795-9B0E-97CD652E7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1897D5C0-485E-466B-A3A5-C4F690BE1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3643" y="685800"/>
            <a:ext cx="4126860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46132" y="685800"/>
            <a:ext cx="6034375" cy="468878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3642" y="2709052"/>
            <a:ext cx="4126861" cy="2665533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6BF68E8A-703A-4947-8AF3-EE17DC37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17546D9D-2ABE-4E7D-9B6C-B00379D85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B3F18CB2-77B2-4CB9-888E-B1BB2D89D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85800"/>
            <a:ext cx="634530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82362" y="0"/>
            <a:ext cx="3598146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2709052"/>
            <a:ext cx="6345301" cy="2362481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DDCA7C0A-88DC-4DD3-BBB9-76C4A761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D41AA284-6235-4583-80BF-1F53764FA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E59B2A86-163F-47E7-BC2C-22B9753BE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106333"/>
            <a:ext cx="10394708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5801" y="685799"/>
            <a:ext cx="10392513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80" y="4702923"/>
            <a:ext cx="10394728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152A58B4-3CC2-4FC0-A4CB-0D64CBC69F7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515C1D3E-02F7-40B0-8991-F50E0D076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14AA491D-2EA4-4B87-9A78-99980D7F5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902" cy="3194903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779" y="4106333"/>
            <a:ext cx="10394729" cy="127360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FC29BEB2-E418-4647-BBD6-DA3DD306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4546C493-37B6-4A32-A184-1A9FA6056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BFC0C4DD-524B-4910-AE2E-D465A88DF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1732" y="685800"/>
            <a:ext cx="9525020" cy="2916704"/>
          </a:xfrm>
        </p:spPr>
        <p:txBody>
          <a:bodyPr anchor="ctr">
            <a:normAutofit/>
          </a:bodyPr>
          <a:lstStyle>
            <a:lvl1pPr algn="ctr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550264" y="3610032"/>
            <a:ext cx="8667956" cy="377768"/>
          </a:xfrm>
        </p:spPr>
        <p:txBody>
          <a:bodyPr anchor="t">
            <a:normAutofit/>
          </a:bodyPr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4106334"/>
            <a:ext cx="10396882" cy="1268252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1" y="89262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473083" y="292282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0" name="Date Placeholder 1">
            <a:extLst>
              <a:ext uri="{FF2B5EF4-FFF2-40B4-BE49-F238E27FC236}">
                <a16:creationId xmlns:a16="http://schemas.microsoft.com/office/drawing/2014/main" id="{ED122BAC-E1D6-406D-876E-C8034B1075C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11" name="Footer Placeholder 2">
            <a:extLst>
              <a:ext uri="{FF2B5EF4-FFF2-40B4-BE49-F238E27FC236}">
                <a16:creationId xmlns:a16="http://schemas.microsoft.com/office/drawing/2014/main" id="{91F733E3-D478-44C3-B123-E08C8E43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15" name="Slide Number Placeholder 3">
            <a:extLst>
              <a:ext uri="{FF2B5EF4-FFF2-40B4-BE49-F238E27FC236}">
                <a16:creationId xmlns:a16="http://schemas.microsoft.com/office/drawing/2014/main" id="{07BB4E21-FC82-4044-8010-2E1E80DFD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723854"/>
            <a:ext cx="10394707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247468"/>
            <a:ext cx="10394707" cy="114064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20F3D476-6AC4-4D52-8A78-20B9E8C016D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CB6010AF-9E26-4377-B08B-CF82F2BF2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8ED29994-CA7B-4F62-8084-399310CB4B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802" y="685800"/>
            <a:ext cx="10394706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802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4622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234621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70380" y="206339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770380" y="2639658"/>
            <a:ext cx="3310128" cy="273492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3" name="Date Placeholder 1">
            <a:extLst>
              <a:ext uri="{FF2B5EF4-FFF2-40B4-BE49-F238E27FC236}">
                <a16:creationId xmlns:a16="http://schemas.microsoft.com/office/drawing/2014/main" id="{208A0386-5166-4082-8C0A-071C987B3BC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14" name="Footer Placeholder 2">
            <a:extLst>
              <a:ext uri="{FF2B5EF4-FFF2-40B4-BE49-F238E27FC236}">
                <a16:creationId xmlns:a16="http://schemas.microsoft.com/office/drawing/2014/main" id="{4A58D412-8677-4F6D-9F59-2F7CCDEDB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16" name="Slide Number Placeholder 3">
            <a:extLst>
              <a:ext uri="{FF2B5EF4-FFF2-40B4-BE49-F238E27FC236}">
                <a16:creationId xmlns:a16="http://schemas.microsoft.com/office/drawing/2014/main" id="{84D0B2D5-0F75-4A86-840E-9DA81ABC9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9184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780" y="2063395"/>
            <a:ext cx="3310128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91840" y="4389287"/>
            <a:ext cx="3310128" cy="98529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37410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235999" y="2063395"/>
            <a:ext cx="3310128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235999" y="4389286"/>
            <a:ext cx="3310128" cy="98530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768944" y="3813025"/>
            <a:ext cx="33101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768819" y="2063394"/>
            <a:ext cx="3310128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768819" y="4389284"/>
            <a:ext cx="3310128" cy="985302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5" name="Date Placeholder 1">
            <a:extLst>
              <a:ext uri="{FF2B5EF4-FFF2-40B4-BE49-F238E27FC236}">
                <a16:creationId xmlns:a16="http://schemas.microsoft.com/office/drawing/2014/main" id="{059DE16C-1CC2-4969-A7DA-295AE6CB65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DA463AE9-50F9-4559-8396-78DA98533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17" name="Slide Number Placeholder 3">
            <a:extLst>
              <a:ext uri="{FF2B5EF4-FFF2-40B4-BE49-F238E27FC236}">
                <a16:creationId xmlns:a16="http://schemas.microsoft.com/office/drawing/2014/main" id="{6C5AD807-7792-4E5A-B23D-A5DF72CCD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2063396"/>
            <a:ext cx="10394707" cy="3311190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B28F763A-4BD8-468C-89DA-DD5F549A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8" name="Footer Placeholder 2">
            <a:extLst>
              <a:ext uri="{FF2B5EF4-FFF2-40B4-BE49-F238E27FC236}">
                <a16:creationId xmlns:a16="http://schemas.microsoft.com/office/drawing/2014/main" id="{3B07500B-E027-4D15-9CAE-0796EC75A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9" name="Slide Number Placeholder 3">
            <a:extLst>
              <a:ext uri="{FF2B5EF4-FFF2-40B4-BE49-F238E27FC236}">
                <a16:creationId xmlns:a16="http://schemas.microsoft.com/office/drawing/2014/main" id="{E6411743-AEBC-4493-9C41-328D1BAD8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15862" y="685800"/>
            <a:ext cx="2264646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800" y="685800"/>
            <a:ext cx="7904431" cy="4688785"/>
          </a:xfrm>
        </p:spPr>
        <p:txBody>
          <a:bodyPr vert="eaVert" anchor="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CDEA893B-B524-402E-BF8D-2CB06470CF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575733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EC5CECA-2D3A-4680-9B49-752200DE467C}" type="datetimeFigureOut">
              <a:rPr lang="en-US" smtClean="0"/>
              <a:pPr/>
              <a:t>1/12/2025</a:t>
            </a:fld>
            <a:endParaRPr lang="en-US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C4905602-D8EE-4238-AEDA-F6E2D0176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1" y="575733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 err="1"/>
              <a:t>Assortiment</a:t>
            </a:r>
            <a:r>
              <a:rPr lang="en-US" dirty="0"/>
              <a:t> </a:t>
            </a:r>
            <a:r>
              <a:rPr lang="en-US" dirty="0" err="1"/>
              <a:t>sotraco</a:t>
            </a:r>
            <a:endParaRPr lang="en-US" dirty="0"/>
          </a:p>
        </p:txBody>
      </p:sp>
      <p:sp>
        <p:nvSpPr>
          <p:cNvPr id="10" name="Slide Number Placeholder 3">
            <a:extLst>
              <a:ext uri="{FF2B5EF4-FFF2-40B4-BE49-F238E27FC236}">
                <a16:creationId xmlns:a16="http://schemas.microsoft.com/office/drawing/2014/main" id="{3B2DFC4E-C4BB-4370-9279-C8E374CDD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87121" y="575733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ickwork-HD-R1a.jp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97435" y="81882"/>
            <a:ext cx="12005350" cy="6644081"/>
            <a:chOff x="-25397" y="0"/>
            <a:chExt cx="12005350" cy="6644081"/>
          </a:xfrm>
        </p:grpSpPr>
        <p:sp useBgFill="1">
          <p:nvSpPr>
            <p:cNvPr id="11" name="Rectangle 10"/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-25397" y="0"/>
              <a:ext cx="11773291" cy="6419514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  <p:sp>
          <p:nvSpPr>
            <p:cNvPr id="13" name="Rectangle 12"/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85800"/>
            <a:ext cx="10396882" cy="11519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63396"/>
            <a:ext cx="10396883" cy="33111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98083" y="5757334"/>
            <a:ext cx="3784600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35BB1C6-BF8F-4481-8AB2-603A1C8A906A}" type="datetimeFigureOut">
              <a:rPr lang="en-US" dirty="0"/>
              <a:t>1/12/2025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1" y="5757334"/>
            <a:ext cx="5499719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287121" y="5757334"/>
            <a:ext cx="907186" cy="4984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2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5.jp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4553667-7B73-48F3-A7FF-7D8882F0D5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21420000">
            <a:off x="440854" y="1073006"/>
            <a:ext cx="10443210" cy="1808222"/>
          </a:xfrm>
        </p:spPr>
        <p:txBody>
          <a:bodyPr>
            <a:normAutofit/>
          </a:bodyPr>
          <a:lstStyle/>
          <a:p>
            <a:r>
              <a:rPr lang="fr-FR" sz="6600" dirty="0"/>
              <a:t>Statistiques décisionnelles</a:t>
            </a:r>
          </a:p>
        </p:txBody>
      </p:sp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92EE4349-BED6-48B1-BEBD-F3D1DA3D81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298083" y="4785784"/>
            <a:ext cx="37846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3200" dirty="0"/>
              <a:t>Nov 2024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6F2610C-E605-4377-98D3-B5E2649F376A}"/>
              </a:ext>
            </a:extLst>
          </p:cNvPr>
          <p:cNvSpPr txBox="1"/>
          <p:nvPr/>
        </p:nvSpPr>
        <p:spPr>
          <a:xfrm rot="21445997" flipH="1">
            <a:off x="289559" y="5506720"/>
            <a:ext cx="29870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Laurent Boin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1EE51E4E-5254-DBAA-A561-6EC9F95053CF}"/>
              </a:ext>
            </a:extLst>
          </p:cNvPr>
          <p:cNvSpPr txBox="1"/>
          <p:nvPr/>
        </p:nvSpPr>
        <p:spPr>
          <a:xfrm rot="21419945">
            <a:off x="1544174" y="3378541"/>
            <a:ext cx="9372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2800" dirty="0">
                <a:solidFill>
                  <a:schemeClr val="bg1">
                    <a:lumMod val="50000"/>
                  </a:schemeClr>
                </a:solidFill>
              </a:rPr>
              <a:t>Episode 4 : Analyse de décisions sous incertitude</a:t>
            </a:r>
          </a:p>
        </p:txBody>
      </p:sp>
      <p:pic>
        <p:nvPicPr>
          <p:cNvPr id="1026" name="Picture 2" descr="INSEEC : Intégrer l'INSEEC en admission parallèle - Monsieur Ecoles de  commerce">
            <a:extLst>
              <a:ext uri="{FF2B5EF4-FFF2-40B4-BE49-F238E27FC236}">
                <a16:creationId xmlns:a16="http://schemas.microsoft.com/office/drawing/2014/main" id="{24321EA9-8497-066C-763E-6374B07B8B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435248">
            <a:off x="1839083" y="4690445"/>
            <a:ext cx="2058256" cy="1164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9883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F986EE0-F0F2-48AD-9457-E0315951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5499719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0. SOMMAIRE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92D536E-B9D3-4FE1-A8CC-2D3008876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771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2</a:t>
            </a:fld>
            <a:endParaRPr lang="en-US" sz="2700" dirty="0"/>
          </a:p>
        </p:txBody>
      </p:sp>
      <p:graphicFrame>
        <p:nvGraphicFramePr>
          <p:cNvPr id="2" name="Tableau 3">
            <a:extLst>
              <a:ext uri="{FF2B5EF4-FFF2-40B4-BE49-F238E27FC236}">
                <a16:creationId xmlns:a16="http://schemas.microsoft.com/office/drawing/2014/main" id="{C7626676-7D3C-441A-82B6-2906DCD0C5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41570"/>
              </p:ext>
            </p:extLst>
          </p:nvPr>
        </p:nvGraphicFramePr>
        <p:xfrm>
          <a:off x="790241" y="1427635"/>
          <a:ext cx="10107731" cy="365760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576068">
                  <a:extLst>
                    <a:ext uri="{9D8B030D-6E8A-4147-A177-3AD203B41FA5}">
                      <a16:colId xmlns:a16="http://schemas.microsoft.com/office/drawing/2014/main" val="3056345303"/>
                    </a:ext>
                  </a:extLst>
                </a:gridCol>
                <a:gridCol w="531663">
                  <a:extLst>
                    <a:ext uri="{9D8B030D-6E8A-4147-A177-3AD203B41FA5}">
                      <a16:colId xmlns:a16="http://schemas.microsoft.com/office/drawing/2014/main" val="3349817047"/>
                    </a:ext>
                  </a:extLst>
                </a:gridCol>
              </a:tblGrid>
              <a:tr h="4008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dirty="0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1.</a:t>
                      </a:r>
                      <a:r>
                        <a:rPr lang="fr-FR" sz="2400" b="1" dirty="0">
                          <a:solidFill>
                            <a:schemeClr val="tx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Episode 4 – Introduction</a:t>
                      </a:r>
                      <a:endParaRPr lang="fr-FR" sz="2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400" b="0" dirty="0">
                          <a:solidFill>
                            <a:srgbClr val="7030A0"/>
                          </a:solidFill>
                          <a:latin typeface="Impact" panose="020B0806030902050204" pitchFamily="34" charset="0"/>
                        </a:rPr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9558429"/>
                  </a:ext>
                </a:extLst>
              </a:tr>
              <a:tr h="4008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kern="1200" dirty="0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2. </a:t>
                      </a:r>
                      <a:r>
                        <a:rPr lang="fr-FR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Episode 4 – Concepts clés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fr-FR" sz="2400" b="0" dirty="0">
                        <a:solidFill>
                          <a:srgbClr val="7030A0"/>
                        </a:solidFill>
                        <a:latin typeface="Impact" panose="020B080603090205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2209091"/>
                  </a:ext>
                </a:extLst>
              </a:tr>
              <a:tr h="40089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kern="1200" dirty="0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3. </a:t>
                      </a:r>
                      <a:r>
                        <a:rPr lang="fr-FR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Episode 4 – </a:t>
                      </a:r>
                      <a:r>
                        <a:rPr lang="fr-FR" sz="24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Techn</a:t>
                      </a:r>
                      <a:r>
                        <a:rPr lang="fr-FR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d’analyse décisions </a:t>
                      </a:r>
                      <a:r>
                        <a:rPr lang="fr-FR" sz="24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ss</a:t>
                      </a:r>
                      <a:r>
                        <a:rPr lang="fr-FR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incertitude – arbres décision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fr-FR" sz="2400" b="0" dirty="0">
                        <a:solidFill>
                          <a:srgbClr val="7030A0"/>
                        </a:solidFill>
                        <a:latin typeface="Impact" panose="020B080603090205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573379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kern="1200" dirty="0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ea typeface="+mn-ea"/>
                          <a:cs typeface="Calibri" panose="020F0502020204030204" pitchFamily="34" charset="0"/>
                        </a:rPr>
                        <a:t>4. </a:t>
                      </a:r>
                      <a:r>
                        <a:rPr lang="fr-FR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Episode 4 – </a:t>
                      </a:r>
                      <a:r>
                        <a:rPr lang="fr-FR" sz="24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Techn</a:t>
                      </a:r>
                      <a:r>
                        <a:rPr lang="fr-FR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d’analyse décisions </a:t>
                      </a:r>
                      <a:r>
                        <a:rPr lang="fr-FR" sz="24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ss</a:t>
                      </a:r>
                      <a:r>
                        <a:rPr lang="fr-FR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incertitude – Analyse scenario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fr-FR" sz="2400" b="0" dirty="0">
                          <a:solidFill>
                            <a:srgbClr val="7030A0"/>
                          </a:solidFill>
                          <a:latin typeface="Impact" panose="020B0806030902050204" pitchFamily="34" charset="0"/>
                        </a:rPr>
                        <a:t>17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032120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dirty="0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</a:t>
                      </a:r>
                      <a:r>
                        <a:rPr lang="fr-FR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Episode 4 – Critères de décisions sous incertitude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fr-FR" sz="2400" b="0" dirty="0">
                        <a:solidFill>
                          <a:srgbClr val="7030A0"/>
                        </a:solidFill>
                        <a:latin typeface="Impact" panose="020B080603090205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48963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dirty="0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</a:t>
                      </a:r>
                      <a:r>
                        <a:rPr lang="fr-FR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Episode 4 – utilisation de probas </a:t>
                      </a:r>
                      <a:r>
                        <a:rPr lang="fr-FR" sz="24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cond</a:t>
                      </a:r>
                      <a:r>
                        <a:rPr lang="fr-FR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. &amp; Bayes pour prise décision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fr-FR" sz="2400" b="0" dirty="0">
                        <a:solidFill>
                          <a:srgbClr val="7030A0"/>
                        </a:solidFill>
                        <a:latin typeface="Impact" panose="020B080603090205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5545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dirty="0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7.</a:t>
                      </a:r>
                      <a:r>
                        <a:rPr lang="fr-FR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Episode 4 – Limites de l’analyse sous incertitude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fr-FR" sz="2400" b="0" dirty="0">
                        <a:solidFill>
                          <a:srgbClr val="7030A0"/>
                        </a:solidFill>
                        <a:latin typeface="Impact" panose="020B080603090205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01193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2400" b="1" dirty="0">
                          <a:solidFill>
                            <a:schemeClr val="accent1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8.</a:t>
                      </a:r>
                      <a:r>
                        <a:rPr lang="fr-FR" sz="24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Episode 4 – </a:t>
                      </a:r>
                      <a:r>
                        <a:rPr lang="fr-FR" sz="2400" b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Exemples pratiques</a:t>
                      </a:r>
                      <a:endParaRPr lang="fr-FR" sz="24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fr-FR" sz="2400" b="0" dirty="0">
                        <a:solidFill>
                          <a:srgbClr val="7030A0"/>
                        </a:solidFill>
                        <a:latin typeface="Impact" panose="020B080603090205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5199214"/>
                  </a:ext>
                </a:extLst>
              </a:tr>
            </a:tbl>
          </a:graphicData>
        </a:graphic>
      </p:graphicFrame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41698178-5345-0CD2-8E6C-9C2CF2E684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</p:spTree>
    <p:extLst>
      <p:ext uri="{BB962C8B-B14F-4D97-AF65-F5344CB8AC3E}">
        <p14:creationId xmlns:p14="http://schemas.microsoft.com/office/powerpoint/2010/main" val="40838150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F986EE0-F0F2-48AD-9457-E0315951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51818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4. </a:t>
            </a:r>
            <a:r>
              <a:rPr lang="en-US" sz="2700" dirty="0" err="1"/>
              <a:t>Programme</a:t>
            </a:r>
            <a:r>
              <a:rPr lang="en-US" sz="2700" dirty="0"/>
              <a:t> 14 </a:t>
            </a:r>
            <a:r>
              <a:rPr lang="en-US" sz="2700" dirty="0" err="1"/>
              <a:t>heures</a:t>
            </a:r>
            <a:r>
              <a:rPr lang="en-US" sz="2700" dirty="0"/>
              <a:t> “stats </a:t>
            </a:r>
            <a:r>
              <a:rPr lang="en-US" sz="2700" dirty="0" err="1"/>
              <a:t>décisionnelles</a:t>
            </a:r>
            <a:r>
              <a:rPr lang="en-US" sz="2700" dirty="0"/>
              <a:t>”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92D536E-B9D3-4FE1-A8CC-2D3008876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3</a:t>
            </a:fld>
            <a:endParaRPr lang="en-US" sz="2700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4C28035-8239-8F9A-49A7-7CB7F26BB837}"/>
              </a:ext>
            </a:extLst>
          </p:cNvPr>
          <p:cNvSpPr txBox="1"/>
          <p:nvPr/>
        </p:nvSpPr>
        <p:spPr>
          <a:xfrm>
            <a:off x="550129" y="4118535"/>
            <a:ext cx="10771996" cy="15234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marR="1524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À l’issue de ce cours, vous serez capables de :</a:t>
            </a:r>
          </a:p>
          <a:p>
            <a:pPr marL="1371600" marR="152400" lvl="2" indent="-457200" algn="just">
              <a:spcAft>
                <a:spcPts val="600"/>
              </a:spcAft>
              <a:buClr>
                <a:srgbClr val="0070C0"/>
              </a:buClr>
              <a:buSzPct val="80000"/>
              <a:buFont typeface="Impact" panose="020B0806030902050204" pitchFamily="34" charset="0"/>
              <a:buChar char="►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Comprendre et appliquer les concepts clés des statistiques décisionnelles.</a:t>
            </a:r>
          </a:p>
          <a:p>
            <a:pPr marL="1371600" marR="152400" lvl="2" indent="-457200" algn="just">
              <a:spcAft>
                <a:spcPts val="600"/>
              </a:spcAft>
              <a:buClr>
                <a:srgbClr val="0070C0"/>
              </a:buClr>
              <a:buSzPct val="80000"/>
              <a:buFont typeface="Impact" panose="020B0806030902050204" pitchFamily="34" charset="0"/>
              <a:buChar char="►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Utiliser des techniques de modélisation statistique pour la prise de décision.</a:t>
            </a:r>
          </a:p>
          <a:p>
            <a:pPr marL="1371600" marR="152400" lvl="2" indent="-457200" algn="just">
              <a:spcAft>
                <a:spcPts val="600"/>
              </a:spcAft>
              <a:buClr>
                <a:srgbClr val="0070C0"/>
              </a:buClr>
              <a:buSzPct val="80000"/>
              <a:buFont typeface="Impact" panose="020B0806030902050204" pitchFamily="34" charset="0"/>
              <a:buChar char="►"/>
            </a:pPr>
            <a:r>
              <a:rPr lang="fr-FR" b="1" dirty="0">
                <a:latin typeface="Calibri" panose="020F0502020204030204" pitchFamily="34" charset="0"/>
                <a:cs typeface="Calibri" panose="020F0502020204030204" pitchFamily="34" charset="0"/>
              </a:rPr>
              <a:t>Analyser et interpréter des données pour soutenir des décisions stratégiques.</a:t>
            </a:r>
          </a:p>
        </p:txBody>
      </p:sp>
      <p:graphicFrame>
        <p:nvGraphicFramePr>
          <p:cNvPr id="2" name="Tableau 6">
            <a:extLst>
              <a:ext uri="{FF2B5EF4-FFF2-40B4-BE49-F238E27FC236}">
                <a16:creationId xmlns:a16="http://schemas.microsoft.com/office/drawing/2014/main" id="{E7D05F81-F5BD-0A58-2B23-43ACF35BAEB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3096080"/>
              </p:ext>
            </p:extLst>
          </p:nvPr>
        </p:nvGraphicFramePr>
        <p:xfrm>
          <a:off x="456220" y="118796"/>
          <a:ext cx="10983597" cy="395090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02480">
                  <a:extLst>
                    <a:ext uri="{9D8B030D-6E8A-4147-A177-3AD203B41FA5}">
                      <a16:colId xmlns:a16="http://schemas.microsoft.com/office/drawing/2014/main" val="3296059826"/>
                    </a:ext>
                  </a:extLst>
                </a:gridCol>
                <a:gridCol w="888027">
                  <a:extLst>
                    <a:ext uri="{9D8B030D-6E8A-4147-A177-3AD203B41FA5}">
                      <a16:colId xmlns:a16="http://schemas.microsoft.com/office/drawing/2014/main" val="2346592391"/>
                    </a:ext>
                  </a:extLst>
                </a:gridCol>
                <a:gridCol w="1268671">
                  <a:extLst>
                    <a:ext uri="{9D8B030D-6E8A-4147-A177-3AD203B41FA5}">
                      <a16:colId xmlns:a16="http://schemas.microsoft.com/office/drawing/2014/main" val="2533113631"/>
                    </a:ext>
                  </a:extLst>
                </a:gridCol>
                <a:gridCol w="5137394">
                  <a:extLst>
                    <a:ext uri="{9D8B030D-6E8A-4147-A177-3AD203B41FA5}">
                      <a16:colId xmlns:a16="http://schemas.microsoft.com/office/drawing/2014/main" val="3867999391"/>
                    </a:ext>
                  </a:extLst>
                </a:gridCol>
                <a:gridCol w="2287025">
                  <a:extLst>
                    <a:ext uri="{9D8B030D-6E8A-4147-A177-3AD203B41FA5}">
                      <a16:colId xmlns:a16="http://schemas.microsoft.com/office/drawing/2014/main" val="4208209775"/>
                    </a:ext>
                  </a:extLst>
                </a:gridCol>
              </a:tblGrid>
              <a:tr h="285190">
                <a:tc>
                  <a:txBody>
                    <a:bodyPr/>
                    <a:lstStyle/>
                    <a:p>
                      <a:r>
                        <a:rPr lang="fr-F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Quand ?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Durée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Quoi ?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Thème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Evaluation </a:t>
                      </a:r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7428880"/>
                  </a:ext>
                </a:extLst>
              </a:tr>
              <a:tr h="352995">
                <a:tc rowSpan="2"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 28/10/24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2h00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Episode 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Introduction aux stats décisionnelles – installation python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5642312"/>
                  </a:ext>
                </a:extLst>
              </a:tr>
              <a:tr h="404019">
                <a:tc vMerge="1">
                  <a:txBody>
                    <a:bodyPr/>
                    <a:lstStyle/>
                    <a:p>
                      <a:endParaRPr lang="fr-FR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Episode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Rappels stats descriptives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E-learning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3041038"/>
                  </a:ext>
                </a:extLst>
              </a:tr>
              <a:tr h="404019">
                <a:tc rowSpan="2"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 25/11/24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2h00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Episode 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Probabilités et inférence statistique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QCM Episodes 1 &amp; 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41361136"/>
                  </a:ext>
                </a:extLst>
              </a:tr>
              <a:tr h="404019">
                <a:tc vMerge="1">
                  <a:txBody>
                    <a:bodyPr/>
                    <a:lstStyle/>
                    <a:p>
                      <a:endParaRPr lang="fr-FR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Episode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Analyse des décisions sous incertitudes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E-learning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8705171"/>
                  </a:ext>
                </a:extLst>
              </a:tr>
              <a:tr h="404019"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Ma 03/12/24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2h00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Episode 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Régression pour la prise de décision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Présentation </a:t>
                      </a:r>
                      <a:r>
                        <a:rPr lang="fr-FR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Pairagogie</a:t>
                      </a:r>
                      <a:endParaRPr lang="fr-FR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4886624"/>
                  </a:ext>
                </a:extLst>
              </a:tr>
              <a:tr h="404019"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 13/01/25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2h00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Episode 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Analyse variance &amp; tests hypothèses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QCM Episodes 3 &amp; 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9705231"/>
                  </a:ext>
                </a:extLst>
              </a:tr>
              <a:tr h="404019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 20/01/25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4h00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Episode 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Méthodes non paramétriques et décisionnelles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77006424"/>
                  </a:ext>
                </a:extLst>
              </a:tr>
              <a:tr h="404019">
                <a:tc vMerge="1">
                  <a:txBody>
                    <a:bodyPr/>
                    <a:lstStyle/>
                    <a:p>
                      <a:endParaRPr lang="fr-FR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Episode 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Préparation projet </a:t>
                      </a:r>
                      <a:r>
                        <a:rPr lang="fr-FR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pairagogie</a:t>
                      </a:r>
                      <a:endParaRPr lang="fr-FR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0468544"/>
                  </a:ext>
                </a:extLst>
              </a:tr>
              <a:tr h="404019"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Lu 17/02/24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2h00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fr-FR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fr-FR" sz="1600" b="1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Soutenance projet </a:t>
                      </a:r>
                      <a:r>
                        <a:rPr lang="fr-FR" sz="1600" b="1" dirty="0" err="1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pairagogie</a:t>
                      </a:r>
                      <a:endParaRPr lang="fr-FR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600" b="1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32928174"/>
                  </a:ext>
                </a:extLst>
              </a:tr>
            </a:tbl>
          </a:graphicData>
        </a:graphic>
      </p:graphicFrame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CFADEED2-8DD2-EF7D-30B5-A648D1702E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2AF3AA-35E9-D632-A143-1D8D7B2F313C}"/>
              </a:ext>
            </a:extLst>
          </p:cNvPr>
          <p:cNvSpPr/>
          <p:nvPr/>
        </p:nvSpPr>
        <p:spPr>
          <a:xfrm>
            <a:off x="2633472" y="1672400"/>
            <a:ext cx="8996873" cy="320992"/>
          </a:xfrm>
          <a:custGeom>
            <a:avLst/>
            <a:gdLst>
              <a:gd name="connsiteX0" fmla="*/ 0 w 8996873"/>
              <a:gd name="connsiteY0" fmla="*/ 0 h 320992"/>
              <a:gd name="connsiteX1" fmla="*/ 599792 w 8996873"/>
              <a:gd name="connsiteY1" fmla="*/ 0 h 320992"/>
              <a:gd name="connsiteX2" fmla="*/ 1019646 w 8996873"/>
              <a:gd name="connsiteY2" fmla="*/ 0 h 320992"/>
              <a:gd name="connsiteX3" fmla="*/ 1529468 w 8996873"/>
              <a:gd name="connsiteY3" fmla="*/ 0 h 320992"/>
              <a:gd name="connsiteX4" fmla="*/ 1859354 w 8996873"/>
              <a:gd name="connsiteY4" fmla="*/ 0 h 320992"/>
              <a:gd name="connsiteX5" fmla="*/ 2189239 w 8996873"/>
              <a:gd name="connsiteY5" fmla="*/ 0 h 320992"/>
              <a:gd name="connsiteX6" fmla="*/ 2609093 w 8996873"/>
              <a:gd name="connsiteY6" fmla="*/ 0 h 320992"/>
              <a:gd name="connsiteX7" fmla="*/ 3298853 w 8996873"/>
              <a:gd name="connsiteY7" fmla="*/ 0 h 320992"/>
              <a:gd name="connsiteX8" fmla="*/ 3628739 w 8996873"/>
              <a:gd name="connsiteY8" fmla="*/ 0 h 320992"/>
              <a:gd name="connsiteX9" fmla="*/ 4228530 w 8996873"/>
              <a:gd name="connsiteY9" fmla="*/ 0 h 320992"/>
              <a:gd name="connsiteX10" fmla="*/ 4828322 w 8996873"/>
              <a:gd name="connsiteY10" fmla="*/ 0 h 320992"/>
              <a:gd name="connsiteX11" fmla="*/ 5338145 w 8996873"/>
              <a:gd name="connsiteY11" fmla="*/ 0 h 320992"/>
              <a:gd name="connsiteX12" fmla="*/ 6027905 w 8996873"/>
              <a:gd name="connsiteY12" fmla="*/ 0 h 320992"/>
              <a:gd name="connsiteX13" fmla="*/ 6357790 w 8996873"/>
              <a:gd name="connsiteY13" fmla="*/ 0 h 320992"/>
              <a:gd name="connsiteX14" fmla="*/ 7047551 w 8996873"/>
              <a:gd name="connsiteY14" fmla="*/ 0 h 320992"/>
              <a:gd name="connsiteX15" fmla="*/ 7467405 w 8996873"/>
              <a:gd name="connsiteY15" fmla="*/ 0 h 320992"/>
              <a:gd name="connsiteX16" fmla="*/ 7797290 w 8996873"/>
              <a:gd name="connsiteY16" fmla="*/ 0 h 320992"/>
              <a:gd name="connsiteX17" fmla="*/ 8127175 w 8996873"/>
              <a:gd name="connsiteY17" fmla="*/ 0 h 320992"/>
              <a:gd name="connsiteX18" fmla="*/ 8996873 w 8996873"/>
              <a:gd name="connsiteY18" fmla="*/ 0 h 320992"/>
              <a:gd name="connsiteX19" fmla="*/ 8996873 w 8996873"/>
              <a:gd name="connsiteY19" fmla="*/ 320992 h 320992"/>
              <a:gd name="connsiteX20" fmla="*/ 8307113 w 8996873"/>
              <a:gd name="connsiteY20" fmla="*/ 320992 h 320992"/>
              <a:gd name="connsiteX21" fmla="*/ 7977227 w 8996873"/>
              <a:gd name="connsiteY21" fmla="*/ 320992 h 320992"/>
              <a:gd name="connsiteX22" fmla="*/ 7197498 w 8996873"/>
              <a:gd name="connsiteY22" fmla="*/ 320992 h 320992"/>
              <a:gd name="connsiteX23" fmla="*/ 6597707 w 8996873"/>
              <a:gd name="connsiteY23" fmla="*/ 320992 h 320992"/>
              <a:gd name="connsiteX24" fmla="*/ 5817978 w 8996873"/>
              <a:gd name="connsiteY24" fmla="*/ 320992 h 320992"/>
              <a:gd name="connsiteX25" fmla="*/ 5488093 w 8996873"/>
              <a:gd name="connsiteY25" fmla="*/ 320992 h 320992"/>
              <a:gd name="connsiteX26" fmla="*/ 4978270 w 8996873"/>
              <a:gd name="connsiteY26" fmla="*/ 320992 h 320992"/>
              <a:gd name="connsiteX27" fmla="*/ 4198541 w 8996873"/>
              <a:gd name="connsiteY27" fmla="*/ 320992 h 320992"/>
              <a:gd name="connsiteX28" fmla="*/ 3868655 w 8996873"/>
              <a:gd name="connsiteY28" fmla="*/ 320992 h 320992"/>
              <a:gd name="connsiteX29" fmla="*/ 3448801 w 8996873"/>
              <a:gd name="connsiteY29" fmla="*/ 320992 h 320992"/>
              <a:gd name="connsiteX30" fmla="*/ 2669072 w 8996873"/>
              <a:gd name="connsiteY30" fmla="*/ 320992 h 320992"/>
              <a:gd name="connsiteX31" fmla="*/ 2069281 w 8996873"/>
              <a:gd name="connsiteY31" fmla="*/ 320992 h 320992"/>
              <a:gd name="connsiteX32" fmla="*/ 1559458 w 8996873"/>
              <a:gd name="connsiteY32" fmla="*/ 320992 h 320992"/>
              <a:gd name="connsiteX33" fmla="*/ 959666 w 8996873"/>
              <a:gd name="connsiteY33" fmla="*/ 320992 h 320992"/>
              <a:gd name="connsiteX34" fmla="*/ 0 w 8996873"/>
              <a:gd name="connsiteY34" fmla="*/ 320992 h 320992"/>
              <a:gd name="connsiteX35" fmla="*/ 0 w 8996873"/>
              <a:gd name="connsiteY35" fmla="*/ 0 h 32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8996873" h="320992" extrusionOk="0">
                <a:moveTo>
                  <a:pt x="0" y="0"/>
                </a:moveTo>
                <a:cubicBezTo>
                  <a:pt x="297199" y="-4258"/>
                  <a:pt x="383592" y="22678"/>
                  <a:pt x="599792" y="0"/>
                </a:cubicBezTo>
                <a:cubicBezTo>
                  <a:pt x="815992" y="-22678"/>
                  <a:pt x="827154" y="38927"/>
                  <a:pt x="1019646" y="0"/>
                </a:cubicBezTo>
                <a:cubicBezTo>
                  <a:pt x="1212138" y="-38927"/>
                  <a:pt x="1311487" y="11182"/>
                  <a:pt x="1529468" y="0"/>
                </a:cubicBezTo>
                <a:cubicBezTo>
                  <a:pt x="1747449" y="-11182"/>
                  <a:pt x="1771802" y="10870"/>
                  <a:pt x="1859354" y="0"/>
                </a:cubicBezTo>
                <a:cubicBezTo>
                  <a:pt x="1946906" y="-10870"/>
                  <a:pt x="2104617" y="17060"/>
                  <a:pt x="2189239" y="0"/>
                </a:cubicBezTo>
                <a:cubicBezTo>
                  <a:pt x="2273861" y="-17060"/>
                  <a:pt x="2399825" y="16503"/>
                  <a:pt x="2609093" y="0"/>
                </a:cubicBezTo>
                <a:cubicBezTo>
                  <a:pt x="2818361" y="-16503"/>
                  <a:pt x="3037606" y="62011"/>
                  <a:pt x="3298853" y="0"/>
                </a:cubicBezTo>
                <a:cubicBezTo>
                  <a:pt x="3560100" y="-62011"/>
                  <a:pt x="3555972" y="22793"/>
                  <a:pt x="3628739" y="0"/>
                </a:cubicBezTo>
                <a:cubicBezTo>
                  <a:pt x="3701506" y="-22793"/>
                  <a:pt x="3954246" y="505"/>
                  <a:pt x="4228530" y="0"/>
                </a:cubicBezTo>
                <a:cubicBezTo>
                  <a:pt x="4502814" y="-505"/>
                  <a:pt x="4680893" y="4185"/>
                  <a:pt x="4828322" y="0"/>
                </a:cubicBezTo>
                <a:cubicBezTo>
                  <a:pt x="4975751" y="-4185"/>
                  <a:pt x="5094329" y="22576"/>
                  <a:pt x="5338145" y="0"/>
                </a:cubicBezTo>
                <a:cubicBezTo>
                  <a:pt x="5581961" y="-22576"/>
                  <a:pt x="5745147" y="32283"/>
                  <a:pt x="6027905" y="0"/>
                </a:cubicBezTo>
                <a:cubicBezTo>
                  <a:pt x="6310663" y="-32283"/>
                  <a:pt x="6279352" y="16393"/>
                  <a:pt x="6357790" y="0"/>
                </a:cubicBezTo>
                <a:cubicBezTo>
                  <a:pt x="6436229" y="-16393"/>
                  <a:pt x="6860715" y="67772"/>
                  <a:pt x="7047551" y="0"/>
                </a:cubicBezTo>
                <a:cubicBezTo>
                  <a:pt x="7234387" y="-67772"/>
                  <a:pt x="7275965" y="28602"/>
                  <a:pt x="7467405" y="0"/>
                </a:cubicBezTo>
                <a:cubicBezTo>
                  <a:pt x="7658845" y="-28602"/>
                  <a:pt x="7723502" y="24888"/>
                  <a:pt x="7797290" y="0"/>
                </a:cubicBezTo>
                <a:cubicBezTo>
                  <a:pt x="7871079" y="-24888"/>
                  <a:pt x="8000009" y="9020"/>
                  <a:pt x="8127175" y="0"/>
                </a:cubicBezTo>
                <a:cubicBezTo>
                  <a:pt x="8254341" y="-9020"/>
                  <a:pt x="8739325" y="82648"/>
                  <a:pt x="8996873" y="0"/>
                </a:cubicBezTo>
                <a:cubicBezTo>
                  <a:pt x="9001796" y="140446"/>
                  <a:pt x="8968182" y="176053"/>
                  <a:pt x="8996873" y="320992"/>
                </a:cubicBezTo>
                <a:cubicBezTo>
                  <a:pt x="8854977" y="334347"/>
                  <a:pt x="8478013" y="263925"/>
                  <a:pt x="8307113" y="320992"/>
                </a:cubicBezTo>
                <a:cubicBezTo>
                  <a:pt x="8136213" y="378059"/>
                  <a:pt x="8127141" y="294696"/>
                  <a:pt x="7977227" y="320992"/>
                </a:cubicBezTo>
                <a:cubicBezTo>
                  <a:pt x="7827313" y="347288"/>
                  <a:pt x="7423461" y="232056"/>
                  <a:pt x="7197498" y="320992"/>
                </a:cubicBezTo>
                <a:cubicBezTo>
                  <a:pt x="6971535" y="409928"/>
                  <a:pt x="6766463" y="307513"/>
                  <a:pt x="6597707" y="320992"/>
                </a:cubicBezTo>
                <a:cubicBezTo>
                  <a:pt x="6428951" y="334471"/>
                  <a:pt x="6008107" y="302826"/>
                  <a:pt x="5817978" y="320992"/>
                </a:cubicBezTo>
                <a:cubicBezTo>
                  <a:pt x="5627849" y="339158"/>
                  <a:pt x="5630817" y="317241"/>
                  <a:pt x="5488093" y="320992"/>
                </a:cubicBezTo>
                <a:cubicBezTo>
                  <a:pt x="5345369" y="324743"/>
                  <a:pt x="5182339" y="320968"/>
                  <a:pt x="4978270" y="320992"/>
                </a:cubicBezTo>
                <a:cubicBezTo>
                  <a:pt x="4774201" y="321016"/>
                  <a:pt x="4400607" y="309668"/>
                  <a:pt x="4198541" y="320992"/>
                </a:cubicBezTo>
                <a:cubicBezTo>
                  <a:pt x="3996475" y="332316"/>
                  <a:pt x="3942458" y="285999"/>
                  <a:pt x="3868655" y="320992"/>
                </a:cubicBezTo>
                <a:cubicBezTo>
                  <a:pt x="3794852" y="355985"/>
                  <a:pt x="3606296" y="285595"/>
                  <a:pt x="3448801" y="320992"/>
                </a:cubicBezTo>
                <a:cubicBezTo>
                  <a:pt x="3291306" y="356389"/>
                  <a:pt x="2990262" y="273009"/>
                  <a:pt x="2669072" y="320992"/>
                </a:cubicBezTo>
                <a:cubicBezTo>
                  <a:pt x="2347882" y="368975"/>
                  <a:pt x="2285221" y="304644"/>
                  <a:pt x="2069281" y="320992"/>
                </a:cubicBezTo>
                <a:cubicBezTo>
                  <a:pt x="1853341" y="337340"/>
                  <a:pt x="1781459" y="302418"/>
                  <a:pt x="1559458" y="320992"/>
                </a:cubicBezTo>
                <a:cubicBezTo>
                  <a:pt x="1337457" y="339566"/>
                  <a:pt x="1219927" y="293502"/>
                  <a:pt x="959666" y="320992"/>
                </a:cubicBezTo>
                <a:cubicBezTo>
                  <a:pt x="699405" y="348482"/>
                  <a:pt x="208263" y="267175"/>
                  <a:pt x="0" y="320992"/>
                </a:cubicBezTo>
                <a:cubicBezTo>
                  <a:pt x="-25159" y="161155"/>
                  <a:pt x="1715" y="138831"/>
                  <a:pt x="0" y="0"/>
                </a:cubicBezTo>
                <a:close/>
              </a:path>
            </a:pathLst>
          </a:custGeom>
          <a:noFill/>
          <a:ln w="38100">
            <a:solidFill>
              <a:schemeClr val="accent1"/>
            </a:solidFill>
            <a:extLst>
              <a:ext uri="{C807C97D-BFC1-408E-A445-0C87EB9F89A2}">
                <ask:lineSketchStyleProps xmlns:ask="http://schemas.microsoft.com/office/drawing/2018/sketchyshapes" sd="147581100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6588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02F6E-0A93-7296-F988-ED07517C5D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418BE1-A760-26BB-56BD-BBF016A5D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BB464A8-CF68-6F5A-1764-0A0179992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4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FC8A1D-F8B2-0F37-17E1-651AFD3FEB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C7A89CE-633E-4DC2-7546-DBCFD5326C0A}"/>
              </a:ext>
            </a:extLst>
          </p:cNvPr>
          <p:cNvSpPr txBox="1"/>
          <p:nvPr/>
        </p:nvSpPr>
        <p:spPr>
          <a:xfrm>
            <a:off x="951014" y="876181"/>
            <a:ext cx="91484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solidFill>
                  <a:srgbClr val="C00000"/>
                </a:solidFill>
              </a:rPr>
              <a:t>Episode 4 : </a:t>
            </a:r>
            <a:r>
              <a:rPr lang="fr-FR" sz="6600" dirty="0"/>
              <a:t>analyse </a:t>
            </a:r>
          </a:p>
          <a:p>
            <a:r>
              <a:rPr lang="fr-FR" sz="6600" dirty="0"/>
              <a:t>de décision sous incertitude</a:t>
            </a:r>
            <a:endParaRPr lang="fr-FR" sz="6600" u="sng" dirty="0">
              <a:solidFill>
                <a:schemeClr val="accent2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D247DF7C-7641-776B-B8E7-971755852E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0" y="2011442"/>
            <a:ext cx="3611880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283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17C194-0F78-D6AD-FB09-161200F43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72008A03-4618-33BB-D05E-BC3C0E4F0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BE3EFB9-BA9B-185B-91FF-554A25582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5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EA8CFC-14FB-5918-DD7D-699C7B4129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BE1A7B8-A6F7-6D87-E61D-FDFE2C5FA641}"/>
              </a:ext>
            </a:extLst>
          </p:cNvPr>
          <p:cNvSpPr txBox="1"/>
          <p:nvPr/>
        </p:nvSpPr>
        <p:spPr>
          <a:xfrm>
            <a:off x="2564147" y="634645"/>
            <a:ext cx="8037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Introduction à </a:t>
            </a:r>
            <a:r>
              <a:rPr lang="fr-FR" sz="3600" dirty="0">
                <a:solidFill>
                  <a:schemeClr val="accent1"/>
                </a:solidFill>
              </a:rPr>
              <a:t>l’analyse de décision</a:t>
            </a: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42CFF8E3-42FD-0AC6-6DEC-D34350D7E7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13E398BC-2480-719C-5657-3B81F131C3C0}"/>
              </a:ext>
            </a:extLst>
          </p:cNvPr>
          <p:cNvSpPr txBox="1"/>
          <p:nvPr/>
        </p:nvSpPr>
        <p:spPr>
          <a:xfrm>
            <a:off x="561655" y="1926812"/>
            <a:ext cx="10965327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L'analyse des décisions sous incertitude est une discipline qui s'intéresse à la manière dont les décideurs peuvent </a:t>
            </a:r>
            <a:r>
              <a:rPr lang="fr-FR" sz="2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prendre des décisions optimales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lorsque les </a:t>
            </a: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résultats futurs sont incertains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Cette incertitude peut provenir de diverses sources, telles que </a:t>
            </a:r>
            <a:r>
              <a:rPr lang="fr-FR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 variations économiques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 comportements imprévisibles des consommateurs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ou des </a:t>
            </a:r>
            <a:r>
              <a:rPr lang="fr-FR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conditions météorologiques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457200" indent="-457200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L'objectif est de choisir l'alternative </a:t>
            </a:r>
            <a:r>
              <a:rPr lang="fr-FR" sz="2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qui maximise l'utilité ou minimise les risques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en tenant compte des probabilités associées aux différents résultats possibles.</a:t>
            </a:r>
          </a:p>
        </p:txBody>
      </p:sp>
    </p:spTree>
    <p:extLst>
      <p:ext uri="{BB962C8B-B14F-4D97-AF65-F5344CB8AC3E}">
        <p14:creationId xmlns:p14="http://schemas.microsoft.com/office/powerpoint/2010/main" val="42898797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A95A0-AAE8-C73A-558C-591621C6A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B4BDAAD-710B-9C9D-E885-1C193C679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55B5EB1-F8ED-0C34-1C17-A0C13EDFE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6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F9A49D-8450-D646-3718-C30605A6C71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55A9FD2-6BDF-0E29-0F1C-2E23D0A426B6}"/>
              </a:ext>
            </a:extLst>
          </p:cNvPr>
          <p:cNvSpPr txBox="1"/>
          <p:nvPr/>
        </p:nvSpPr>
        <p:spPr>
          <a:xfrm>
            <a:off x="951014" y="876181"/>
            <a:ext cx="91484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solidFill>
                  <a:srgbClr val="C00000"/>
                </a:solidFill>
              </a:rPr>
              <a:t>1 : </a:t>
            </a:r>
            <a:r>
              <a:rPr lang="fr-FR" sz="6600" dirty="0"/>
              <a:t>analyse </a:t>
            </a:r>
          </a:p>
          <a:p>
            <a:r>
              <a:rPr lang="fr-FR" sz="6600" dirty="0"/>
              <a:t>de décision sous incertitude</a:t>
            </a:r>
            <a:endParaRPr lang="fr-FR" sz="6600" u="sng" dirty="0">
              <a:solidFill>
                <a:schemeClr val="accent2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3CEF1444-C326-FE32-81F6-841365469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0" y="2011442"/>
            <a:ext cx="3611880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941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726804-222C-1346-3D18-EE44746826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7B30D47-E150-C9F9-0BA4-026A149DD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A535489-1DCB-982B-3EC5-A34524EB2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7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8F2F6E-5EF2-1E04-3C3E-4A3DF26BC49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66771286-D276-6204-57B7-A6A9CAE58B77}"/>
              </a:ext>
            </a:extLst>
          </p:cNvPr>
          <p:cNvSpPr txBox="1"/>
          <p:nvPr/>
        </p:nvSpPr>
        <p:spPr>
          <a:xfrm>
            <a:off x="2564147" y="634645"/>
            <a:ext cx="8037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Concepts clés en </a:t>
            </a:r>
            <a:r>
              <a:rPr lang="fr-FR" sz="3600" dirty="0">
                <a:highlight>
                  <a:srgbClr val="FFFF00"/>
                </a:highlight>
              </a:rPr>
              <a:t>analyse de </a:t>
            </a:r>
            <a:r>
              <a:rPr lang="fr-FR" sz="3600" dirty="0">
                <a:solidFill>
                  <a:schemeClr val="accent1"/>
                </a:solidFill>
                <a:highlight>
                  <a:srgbClr val="FFFF00"/>
                </a:highlight>
              </a:rPr>
              <a:t>décisions</a:t>
            </a: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CED8F1D9-5BFA-A48D-5995-28461265B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57D02B8C-7B03-04B2-F14F-E4A201BA70E2}"/>
              </a:ext>
            </a:extLst>
          </p:cNvPr>
          <p:cNvSpPr txBox="1"/>
          <p:nvPr/>
        </p:nvSpPr>
        <p:spPr>
          <a:xfrm>
            <a:off x="1302328" y="2362666"/>
            <a:ext cx="9797103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Décisions sous risque :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probabilités des résultats futurs sont connues ou peuvent être estimées. Par exemple, le risque d'un investissement basé sur la volatilité historique des marchés.</a:t>
            </a:r>
          </a:p>
          <a:p>
            <a:pPr marL="457200" indent="-45720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Décisions sous incertitude :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probabilités des résultats futurs sont inconnues ou difficilement quantifiables. Par exemple, le lancement d'un produit innovant dans un marché émergeant où il existe peu de données.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33B53DF1-A782-D615-FF83-7210A39AA8CE}"/>
              </a:ext>
            </a:extLst>
          </p:cNvPr>
          <p:cNvSpPr txBox="1"/>
          <p:nvPr/>
        </p:nvSpPr>
        <p:spPr>
          <a:xfrm>
            <a:off x="403859" y="1621766"/>
            <a:ext cx="1151382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1. Décisions sous Incertitude </a:t>
            </a:r>
            <a:r>
              <a:rPr lang="fr-FR" sz="2800" dirty="0">
                <a:solidFill>
                  <a:srgbClr val="00B050"/>
                </a:solidFill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|</a:t>
            </a:r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 Décisions sous Risque 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35175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6B059-31FA-BB84-F005-F641FF531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FF15958-DAB5-4AF4-EDF2-933ED2FB2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471B797-D901-946F-572C-76EA95071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8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2BE1D5-A056-E115-0087-056832BA5A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5332B2F-1D08-4B6F-BB2F-99F89D7E35A0}"/>
              </a:ext>
            </a:extLst>
          </p:cNvPr>
          <p:cNvSpPr txBox="1"/>
          <p:nvPr/>
        </p:nvSpPr>
        <p:spPr>
          <a:xfrm>
            <a:off x="2564147" y="634645"/>
            <a:ext cx="8037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Concepts clés en </a:t>
            </a:r>
            <a:r>
              <a:rPr lang="fr-FR" sz="3600" dirty="0">
                <a:highlight>
                  <a:srgbClr val="FFFF00"/>
                </a:highlight>
              </a:rPr>
              <a:t>analyse de </a:t>
            </a:r>
            <a:r>
              <a:rPr lang="fr-FR" sz="3600" dirty="0">
                <a:solidFill>
                  <a:schemeClr val="accent1"/>
                </a:solidFill>
                <a:highlight>
                  <a:srgbClr val="FFFF00"/>
                </a:highlight>
              </a:rPr>
              <a:t>décisions</a:t>
            </a: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45DD9F99-7FBD-77C0-626F-D279140B39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2C9B91B8-63E4-E16F-8006-419F215D7834}"/>
              </a:ext>
            </a:extLst>
          </p:cNvPr>
          <p:cNvSpPr txBox="1"/>
          <p:nvPr/>
        </p:nvSpPr>
        <p:spPr>
          <a:xfrm>
            <a:off x="1302328" y="1966426"/>
            <a:ext cx="9797103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solidFill>
                  <a:schemeClr val="accent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L'utilité espérée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est un concept clé dans la théorie des décisions sous incertitude. Elle permet de choisir entre différentes actions en </a:t>
            </a: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maximisant la somme pondérée des utilités possibles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fr-FR" sz="24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chaque utilité étant pondérée par la probabilité de l'événement correspondant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07EF3D7-3D81-CEB6-25A9-3FF90CB6B8D1}"/>
              </a:ext>
            </a:extLst>
          </p:cNvPr>
          <p:cNvSpPr txBox="1"/>
          <p:nvPr/>
        </p:nvSpPr>
        <p:spPr>
          <a:xfrm>
            <a:off x="2324099" y="144904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 2. Utilité espérée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A7B47826-F12A-2CD4-C34D-61123F204347}"/>
                  </a:ext>
                </a:extLst>
              </p:cNvPr>
              <p:cNvSpPr txBox="1"/>
              <p:nvPr/>
            </p:nvSpPr>
            <p:spPr>
              <a:xfrm>
                <a:off x="1879600" y="3727394"/>
                <a:ext cx="3548380" cy="9882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400" b="1" i="1" smtClean="0">
                          <a:latin typeface="Cambria Math" panose="02040503050406030204" pitchFamily="18" charset="0"/>
                        </a:rPr>
                        <m:t>𝑬𝑼</m:t>
                      </m:r>
                      <m:d>
                        <m:d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𝒂</m:t>
                          </m:r>
                        </m:e>
                      </m:d>
                      <m:r>
                        <a:rPr lang="fr-FR" sz="2400" b="0" i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fr-FR" sz="2400" b="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2400" b="1" i="1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fr-FR" sz="24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𝒑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nary>
                      <m:r>
                        <a:rPr lang="fr-FR" sz="2400" b="0" i="0"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fr-FR" sz="2400" b="1" i="1">
                          <a:latin typeface="Cambria Math" panose="02040503050406030204" pitchFamily="18" charset="0"/>
                        </a:rPr>
                        <m:t>𝒖</m:t>
                      </m:r>
                      <m:d>
                        <m:dPr>
                          <m:ctrlPr>
                            <a:rPr lang="fr-FR" sz="2400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400" b="1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  <m:sub>
                              <m:r>
                                <a:rPr lang="fr-FR" sz="2400" b="1" i="1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fr-FR" sz="2400" dirty="0"/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A7B47826-F12A-2CD4-C34D-61123F2043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9600" y="3727394"/>
                <a:ext cx="3548380" cy="98828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1FF0C480-C32E-A36F-ED7A-2CB6949496C8}"/>
                  </a:ext>
                </a:extLst>
              </p:cNvPr>
              <p:cNvSpPr/>
              <p:nvPr/>
            </p:nvSpPr>
            <p:spPr>
              <a:xfrm>
                <a:off x="6319120" y="3616628"/>
                <a:ext cx="5206631" cy="1209816"/>
              </a:xfrm>
              <a:prstGeom prst="roundRect">
                <a:avLst/>
              </a:prstGeom>
              <a:noFill/>
              <a:ln w="57150"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342900" lvl="0" indent="-342900" algn="just">
                  <a:lnSpc>
                    <a:spcPct val="107000"/>
                  </a:lnSpc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fr-FR" sz="1800" b="1" i="1" kern="100" smtClean="0">
                        <a:solidFill>
                          <a:schemeClr val="accent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𝑬𝑼</m:t>
                    </m:r>
                    <m:d>
                      <m:dPr>
                        <m:ctrlPr>
                          <a:rPr lang="fr-FR" sz="18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fr-FR" sz="18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𝒂</m:t>
                        </m:r>
                      </m:e>
                    </m:d>
                    <m:r>
                      <a:rPr lang="fr-FR" sz="1800" b="1" i="1" kern="100">
                        <a:solidFill>
                          <a:schemeClr val="accent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fr-FR" sz="1800" b="1" kern="100" dirty="0">
                    <a:solidFill>
                      <a:schemeClr val="accent1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est l'utilité espérée de l'action a,</a:t>
                </a:r>
              </a:p>
              <a:p>
                <a:pPr marL="342900" lvl="0" indent="-342900" algn="just">
                  <a:lnSpc>
                    <a:spcPct val="107000"/>
                  </a:lnSpc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18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8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𝒑</m:t>
                        </m:r>
                      </m:e>
                      <m:sub>
                        <m:r>
                          <a:rPr lang="fr-FR" sz="18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  <m:r>
                      <a:rPr lang="fr-FR" sz="1800" b="1" i="1" kern="100">
                        <a:solidFill>
                          <a:schemeClr val="accent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fr-FR" sz="1800" b="1" kern="100" dirty="0">
                    <a:solidFill>
                      <a:schemeClr val="accent1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est la probabilité du résultat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8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fr-FR" sz="18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fr-FR" sz="1800" b="1" kern="100" dirty="0">
                    <a:solidFill>
                      <a:schemeClr val="accent1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,</a:t>
                </a:r>
              </a:p>
              <a:p>
                <a:pPr marL="342900" lvl="0" indent="-342900" algn="just">
                  <a:lnSpc>
                    <a:spcPct val="107000"/>
                  </a:lnSpc>
                  <a:buSzPts val="1000"/>
                  <a:buFont typeface="Symbol" panose="05050102010706020507" pitchFamily="18" charset="2"/>
                  <a:buChar char=""/>
                  <a:tabLst>
                    <a:tab pos="457200" algn="l"/>
                  </a:tabLst>
                </a:pPr>
                <a14:m>
                  <m:oMath xmlns:m="http://schemas.openxmlformats.org/officeDocument/2006/math">
                    <m:r>
                      <a:rPr lang="fr-FR" sz="1800" b="1" i="1" kern="100">
                        <a:solidFill>
                          <a:schemeClr val="accent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𝒖</m:t>
                    </m:r>
                    <m:d>
                      <m:dPr>
                        <m:ctrlPr>
                          <a:rPr lang="fr-FR" sz="18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800" b="1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1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𝒙</m:t>
                            </m:r>
                          </m:e>
                          <m:sub>
                            <m:r>
                              <a:rPr lang="fr-FR" sz="1800" b="1" i="1" kern="100">
                                <a:solidFill>
                                  <a:schemeClr val="accent1"/>
                                </a:solidFill>
                                <a:effectLst/>
                                <a:latin typeface="Cambria Math" panose="02040503050406030204" pitchFamily="18" charset="0"/>
                                <a:ea typeface="Aptos" panose="020B0004020202020204" pitchFamily="34" charset="0"/>
                                <a:cs typeface="Times New Roman" panose="02020603050405020304" pitchFamily="18" charset="0"/>
                              </a:rPr>
                              <m:t>𝒊</m:t>
                            </m:r>
                          </m:sub>
                        </m:sSub>
                      </m:e>
                    </m:d>
                    <m:r>
                      <a:rPr lang="fr-FR" sz="1800" b="1" i="1" kern="100">
                        <a:solidFill>
                          <a:schemeClr val="accent1"/>
                        </a:solidFill>
                        <a:effectLst/>
                        <a:latin typeface="Cambria Math" panose="020405030504060302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fr-FR" sz="1800" b="1" kern="100" dirty="0">
                    <a:solidFill>
                      <a:schemeClr val="accent1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est l'utilité associée au résultat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18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fr-FR" sz="18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𝒙</m:t>
                        </m:r>
                      </m:e>
                      <m:sub>
                        <m:r>
                          <a:rPr lang="fr-FR" sz="1800" b="1" i="1" kern="100">
                            <a:solidFill>
                              <a:schemeClr val="accent1"/>
                            </a:solidFill>
                            <a:effectLst/>
                            <a:latin typeface="Cambria Math" panose="02040503050406030204" pitchFamily="18" charset="0"/>
                            <a:ea typeface="Aptos" panose="020B0004020202020204" pitchFamily="34" charset="0"/>
                            <a:cs typeface="Times New Roman" panose="020206030504050203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fr-FR" sz="1800" b="1" kern="100" dirty="0">
                    <a:solidFill>
                      <a:schemeClr val="accent1"/>
                    </a:solidFill>
                    <a:effectLst/>
                    <a:latin typeface="Arial" panose="020B06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​</a:t>
                </a:r>
                <a:r>
                  <a:rPr lang="fr-FR" sz="1800" b="1" kern="100" dirty="0">
                    <a:solidFill>
                      <a:schemeClr val="accent1"/>
                    </a:solidFill>
                    <a:effectLst/>
                    <a:latin typeface="Aptos" panose="020B00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11" name="Rectangle : coins arrondis 10">
                <a:extLst>
                  <a:ext uri="{FF2B5EF4-FFF2-40B4-BE49-F238E27FC236}">
                    <a16:creationId xmlns:a16="http://schemas.microsoft.com/office/drawing/2014/main" id="{1FF0C480-C32E-A36F-ED7A-2CB6949496C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19120" y="3616628"/>
                <a:ext cx="5206631" cy="1209816"/>
              </a:xfrm>
              <a:prstGeom prst="roundRect">
                <a:avLst/>
              </a:prstGeom>
              <a:blipFill>
                <a:blip r:embed="rId5"/>
                <a:stretch>
                  <a:fillRect/>
                </a:stretch>
              </a:blipFill>
              <a:ln w="571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ZoneTexte 11">
            <a:extLst>
              <a:ext uri="{FF2B5EF4-FFF2-40B4-BE49-F238E27FC236}">
                <a16:creationId xmlns:a16="http://schemas.microsoft.com/office/drawing/2014/main" id="{4B4B338A-9548-03D5-592C-A5FA304B6590}"/>
              </a:ext>
            </a:extLst>
          </p:cNvPr>
          <p:cNvSpPr txBox="1"/>
          <p:nvPr/>
        </p:nvSpPr>
        <p:spPr>
          <a:xfrm>
            <a:off x="5516880" y="4036870"/>
            <a:ext cx="635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avec</a:t>
            </a:r>
          </a:p>
        </p:txBody>
      </p:sp>
    </p:spTree>
    <p:extLst>
      <p:ext uri="{BB962C8B-B14F-4D97-AF65-F5344CB8AC3E}">
        <p14:creationId xmlns:p14="http://schemas.microsoft.com/office/powerpoint/2010/main" val="1114420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A796DD-0D42-E875-C0E6-810F75F620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4A88AAE-5384-F717-A955-FEB86AF296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EF0B4E2-82C1-E4BB-AF22-8E434C1F02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9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5CB27E0-3B0C-F1B8-17E1-1EAE25D542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6AEF74D-C00C-6A0C-8449-93C262CCE8C4}"/>
              </a:ext>
            </a:extLst>
          </p:cNvPr>
          <p:cNvSpPr txBox="1"/>
          <p:nvPr/>
        </p:nvSpPr>
        <p:spPr>
          <a:xfrm>
            <a:off x="2564147" y="634645"/>
            <a:ext cx="80377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Concepts clés en </a:t>
            </a:r>
            <a:r>
              <a:rPr lang="fr-FR" sz="3600" dirty="0">
                <a:highlight>
                  <a:srgbClr val="FFFF00"/>
                </a:highlight>
              </a:rPr>
              <a:t>analyse de </a:t>
            </a:r>
            <a:r>
              <a:rPr lang="fr-FR" sz="3600" dirty="0">
                <a:solidFill>
                  <a:schemeClr val="accent1"/>
                </a:solidFill>
                <a:highlight>
                  <a:srgbClr val="FFFF00"/>
                </a:highlight>
              </a:rPr>
              <a:t>décisions</a:t>
            </a: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BECE179A-5A03-6FD7-F931-46EB880BA1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F4481987-6278-70F6-EEE8-92B7836632F3}"/>
              </a:ext>
            </a:extLst>
          </p:cNvPr>
          <p:cNvSpPr txBox="1"/>
          <p:nvPr/>
        </p:nvSpPr>
        <p:spPr>
          <a:xfrm>
            <a:off x="1302328" y="1966426"/>
            <a:ext cx="9797103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individus et les entreprises n'ont pas tous la même tolérance au risque. L'attitude d'une personne envers le risque influence les décisions prises sous incertitude :</a:t>
            </a:r>
          </a:p>
          <a:p>
            <a:pPr marL="914400" lvl="1" indent="-45720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Aversion au risque :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Préférence pour une récompense plus faible mais plus certaine par rapport à une récompense plus élevée mais plus incertaine.</a:t>
            </a:r>
          </a:p>
          <a:p>
            <a:pPr marL="914400" lvl="1" indent="-45720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Recherche de risque :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Préférence pour une plus grande incertitude avec une potentielle plus grande récompense.</a:t>
            </a:r>
          </a:p>
          <a:p>
            <a:pPr marL="914400" lvl="1" indent="-457200" algn="just"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Courier New" panose="02070309020205020404" pitchFamily="49" charset="0"/>
              <a:buChar char="o"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Neutre au risque :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Indifférence entre le risque et la certitude, se concentrant uniquement sur les gains attendus.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E24D5B9-029C-CD1C-F6BD-7CB24DFE96F3}"/>
              </a:ext>
            </a:extLst>
          </p:cNvPr>
          <p:cNvSpPr txBox="1"/>
          <p:nvPr/>
        </p:nvSpPr>
        <p:spPr>
          <a:xfrm>
            <a:off x="2324099" y="144904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3. Aversion au risque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6387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F986EE0-F0F2-48AD-9457-E0315951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92D536E-B9D3-4FE1-A8CC-2D3008876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10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8B3CDC-F875-1D7A-927E-6D81FA500A1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AAB9A1A1-DDD8-8184-2A48-86B4D207D339}"/>
              </a:ext>
            </a:extLst>
          </p:cNvPr>
          <p:cNvSpPr txBox="1"/>
          <p:nvPr/>
        </p:nvSpPr>
        <p:spPr>
          <a:xfrm>
            <a:off x="951014" y="876181"/>
            <a:ext cx="914848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600" dirty="0">
                <a:solidFill>
                  <a:srgbClr val="C00000"/>
                </a:solidFill>
              </a:rPr>
              <a:t>2 : </a:t>
            </a:r>
            <a:r>
              <a:rPr lang="fr-FR" sz="6600" dirty="0"/>
              <a:t>techniques d’analyse des décisions sous incertitude</a:t>
            </a:r>
            <a:endParaRPr lang="fr-FR" sz="6600" u="sng" dirty="0">
              <a:solidFill>
                <a:schemeClr val="accent2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E206A190-427D-D06A-4D1B-4A650CC89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0" y="2011442"/>
            <a:ext cx="3611880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99477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357E4-D1DE-C3B7-19A3-282D9A0E1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CE25602-BE8A-8823-6C92-3E793F3BD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83AEC48-404A-1B8B-DCE8-487398D87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11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E8CC18-2D1F-CB34-D551-67379DF4E9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C2869A1-71F9-C5D7-6129-3A6825FCF913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61586D7D-0BAE-BCCB-2469-7B9007BA9E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35F1212-6683-69BC-82A0-CC5571D8C919}"/>
              </a:ext>
            </a:extLst>
          </p:cNvPr>
          <p:cNvSpPr txBox="1"/>
          <p:nvPr/>
        </p:nvSpPr>
        <p:spPr>
          <a:xfrm>
            <a:off x="1781827" y="2351500"/>
            <a:ext cx="9456149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arbres de décision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sont des outils graphiques qui permettent de représenter les décisions, les événements aléatoires et les résultats possibles sous forme d'un arbre. </a:t>
            </a:r>
          </a:p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Chaque branche représente une </a:t>
            </a: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décision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 un </a:t>
            </a: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événement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avec une </a:t>
            </a: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probabilité associée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et mène à un résultat ou à un autre </a:t>
            </a: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nœud de décision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4F343D8-AD0D-EC33-EC38-EF1566BC0F13}"/>
              </a:ext>
            </a:extLst>
          </p:cNvPr>
          <p:cNvSpPr txBox="1"/>
          <p:nvPr/>
        </p:nvSpPr>
        <p:spPr>
          <a:xfrm>
            <a:off x="2324099" y="145920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1. Arbres de décision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27151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14EFBB-7DA2-589C-C803-E9EC94C03A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5696820A-3810-DADB-053C-6A6945FEE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3173FBC-7713-49B5-3C3A-8B410C48EA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12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AA3137-B7C1-5DBD-2120-AF80A6601CA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00055F93-7961-0E08-ACB3-8389A3442614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E4529FB8-FECE-2CBB-740E-C5FBB14C69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D57FCBCA-1CE4-D8B5-76FD-824ED2B140B6}"/>
              </a:ext>
            </a:extLst>
          </p:cNvPr>
          <p:cNvSpPr txBox="1"/>
          <p:nvPr/>
        </p:nvSpPr>
        <p:spPr>
          <a:xfrm>
            <a:off x="1781827" y="2026380"/>
            <a:ext cx="9456149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 des décisions :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Commencez par une décision clé à prendre.</a:t>
            </a:r>
          </a:p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 des événements :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Ajoutez les événements incertains qui suivent chaque décision, avec leurs probabilités.</a:t>
            </a:r>
          </a:p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Évaluation des résultats :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Attribuez une valeur (gain, coût, utilité) à chaque résultat possible.</a:t>
            </a:r>
          </a:p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et choix :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Calculez l'utilité espérée pour chaque décision et choisissez celle qui maximise l'utilité.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60911009-7CC1-D1AD-7A0B-AF9F53DDE3EE}"/>
              </a:ext>
            </a:extLst>
          </p:cNvPr>
          <p:cNvSpPr txBox="1"/>
          <p:nvPr/>
        </p:nvSpPr>
        <p:spPr>
          <a:xfrm>
            <a:off x="2324099" y="126616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1. Arbres de décision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669B0FEA-3A8C-53C8-1F5E-01F0AC2709EB}"/>
              </a:ext>
            </a:extLst>
          </p:cNvPr>
          <p:cNvSpPr txBox="1"/>
          <p:nvPr/>
        </p:nvSpPr>
        <p:spPr>
          <a:xfrm rot="16200000">
            <a:off x="-582766" y="3172770"/>
            <a:ext cx="28680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accent1"/>
                </a:solidFill>
              </a:rPr>
              <a:t>Les étapes</a:t>
            </a:r>
          </a:p>
        </p:txBody>
      </p:sp>
    </p:spTree>
    <p:extLst>
      <p:ext uri="{BB962C8B-B14F-4D97-AF65-F5344CB8AC3E}">
        <p14:creationId xmlns:p14="http://schemas.microsoft.com/office/powerpoint/2010/main" val="5075121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47AD6C-CE70-9D27-1AA9-C15D47749A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54CC305-E011-14A1-92F2-21F182BB5B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11C47A-AFFF-22E5-C4BF-6D3D67D90D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13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04048D-66CA-28FE-D911-5D74E895E33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E2F36F8A-1A31-1E6C-7D7E-334C9A367390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A6AE8084-5095-3D65-BC82-0E2B2A6015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093AAE4A-4FF9-9C8D-8783-B155EEE24598}"/>
                  </a:ext>
                </a:extLst>
              </p:cNvPr>
              <p:cNvSpPr txBox="1"/>
              <p:nvPr/>
            </p:nvSpPr>
            <p:spPr>
              <a:xfrm>
                <a:off x="1781827" y="2096575"/>
                <a:ext cx="9456149" cy="290848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 algn="just">
                  <a:spcAft>
                    <a:spcPts val="600"/>
                  </a:spcAft>
                  <a:buClr>
                    <a:srgbClr val="C00000"/>
                  </a:buClr>
                  <a:buFont typeface="Wingdings 2" panose="05020102010507070707" pitchFamily="18" charset="2"/>
                  <a:buChar char="»"/>
                </a:pPr>
                <a:r>
                  <a:rPr lang="fr-FR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Une entreprise doit décider d'investir ou non dans un nouveau projet. </a:t>
                </a:r>
              </a:p>
              <a:p>
                <a:pPr marL="457200" indent="-457200" algn="just">
                  <a:spcAft>
                    <a:spcPts val="600"/>
                  </a:spcAft>
                  <a:buClr>
                    <a:srgbClr val="C00000"/>
                  </a:buClr>
                  <a:buFont typeface="Wingdings 2" panose="05020102010507070707" pitchFamily="18" charset="2"/>
                  <a:buChar char="»"/>
                </a:pPr>
                <a:r>
                  <a:rPr lang="fr-FR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Les résultats possibles incluent un </a:t>
                </a:r>
                <a:r>
                  <a:rPr lang="fr-FR" sz="2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succès </a:t>
                </a:r>
                <a:r>
                  <a:rPr lang="fr-FR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(haut rendement) ou un </a:t>
                </a:r>
                <a:r>
                  <a:rPr lang="fr-FR" sz="2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échec </a:t>
                </a:r>
                <a:r>
                  <a:rPr lang="fr-FR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(perte), chacun ayant une probabilité associée</a:t>
                </a:r>
              </a:p>
              <a:p>
                <a:pPr marL="971550" lvl="1" indent="-514350">
                  <a:spcAft>
                    <a:spcPts val="600"/>
                  </a:spcAft>
                  <a:buClr>
                    <a:srgbClr val="C00000"/>
                  </a:buClr>
                  <a:buFont typeface="+mj-lt"/>
                  <a:buAutoNum type="arabicPeriod"/>
                </a:pPr>
                <a:r>
                  <a:rPr lang="fr-FR" sz="2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Succès</a:t>
                </a:r>
                <a:r>
                  <a:rPr lang="fr-FR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avec une probabilité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8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𝑷𝒓𝒐𝒃𝒂</m:t>
                        </m:r>
                      </m:e>
                      <m:sub>
                        <m:r>
                          <a:rPr lang="fr-FR" sz="28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𝒔𝒖𝒄𝒄</m:t>
                        </m:r>
                        <m:r>
                          <a:rPr lang="fr-FR" sz="28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è</m:t>
                        </m:r>
                        <m:r>
                          <a:rPr lang="fr-FR" sz="28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𝒔</m:t>
                        </m:r>
                      </m:sub>
                    </m:sSub>
                    <m:r>
                      <a:rPr lang="fr-FR" sz="2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fr-FR" sz="2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𝟕𝟎</m:t>
                    </m:r>
                    <m:r>
                      <a:rPr lang="fr-FR" sz="2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</m:oMath>
                </a14:m>
                <a:endParaRPr lang="fr-FR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971550" lvl="1" indent="-514350">
                  <a:spcAft>
                    <a:spcPts val="600"/>
                  </a:spcAft>
                  <a:buClr>
                    <a:srgbClr val="C00000"/>
                  </a:buClr>
                  <a:buFont typeface="+mj-lt"/>
                  <a:buAutoNum type="arabicPeriod"/>
                </a:pPr>
                <a:r>
                  <a:rPr lang="fr-FR" sz="2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Échec</a:t>
                </a:r>
                <a:r>
                  <a:rPr lang="fr-FR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avec une probabilité de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8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𝑷𝒓𝒐𝒃𝒂</m:t>
                        </m:r>
                      </m:e>
                      <m:sub>
                        <m:r>
                          <a:rPr lang="fr-FR" sz="28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é</m:t>
                        </m:r>
                        <m:r>
                          <a:rPr lang="fr-FR" sz="28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𝒄𝒉𝒆𝒄</m:t>
                        </m:r>
                      </m:sub>
                    </m:sSub>
                    <m:r>
                      <a:rPr lang="fr-FR" sz="2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fr-FR" sz="2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𝟑𝟎</m:t>
                    </m:r>
                    <m:r>
                      <a:rPr lang="fr-FR" sz="28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%</m:t>
                    </m:r>
                  </m:oMath>
                </a14:m>
                <a:endParaRPr lang="fr-FR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093AAE4A-4FF9-9C8D-8783-B155EEE245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1827" y="2096575"/>
                <a:ext cx="9456149" cy="2908489"/>
              </a:xfrm>
              <a:prstGeom prst="rect">
                <a:avLst/>
              </a:prstGeom>
              <a:blipFill>
                <a:blip r:embed="rId4"/>
                <a:stretch>
                  <a:fillRect l="-1031" t="-2096" r="-1289" b="-5031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ZoneTexte 9">
            <a:extLst>
              <a:ext uri="{FF2B5EF4-FFF2-40B4-BE49-F238E27FC236}">
                <a16:creationId xmlns:a16="http://schemas.microsoft.com/office/drawing/2014/main" id="{F63ECE94-36E3-1EC2-B873-417BA998B90E}"/>
              </a:ext>
            </a:extLst>
          </p:cNvPr>
          <p:cNvSpPr txBox="1"/>
          <p:nvPr/>
        </p:nvSpPr>
        <p:spPr>
          <a:xfrm>
            <a:off x="2324099" y="137792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1. Arbres de décision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728ACBD-DFAE-BD1A-791B-8E2BAE320078}"/>
              </a:ext>
            </a:extLst>
          </p:cNvPr>
          <p:cNvSpPr txBox="1"/>
          <p:nvPr/>
        </p:nvSpPr>
        <p:spPr>
          <a:xfrm rot="16200000">
            <a:off x="-257592" y="3030530"/>
            <a:ext cx="22990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accent1"/>
                </a:solidFill>
              </a:rPr>
              <a:t>Exemple</a:t>
            </a:r>
          </a:p>
        </p:txBody>
      </p:sp>
    </p:spTree>
    <p:extLst>
      <p:ext uri="{BB962C8B-B14F-4D97-AF65-F5344CB8AC3E}">
        <p14:creationId xmlns:p14="http://schemas.microsoft.com/office/powerpoint/2010/main" val="1591295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243B3C-D98B-778F-344A-DAB0E4460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B83BF716-CC9C-C6E3-83DD-9786A9486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51A1075-8AC7-19F5-38A0-E70413AE57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14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52DC22-7013-C027-6BF2-EE99C9395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72EC3F61-FA12-83E5-4B24-73FA68A06FB2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0F9AADF9-C32B-6965-56DD-6550BFD40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2C3E152A-E76A-6C30-8036-C0455338E650}"/>
              </a:ext>
            </a:extLst>
          </p:cNvPr>
          <p:cNvSpPr txBox="1"/>
          <p:nvPr/>
        </p:nvSpPr>
        <p:spPr>
          <a:xfrm>
            <a:off x="2324099" y="137792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1. Arbres de décision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F49C228-440F-9963-4B82-E750870AD4DE}"/>
              </a:ext>
            </a:extLst>
          </p:cNvPr>
          <p:cNvSpPr txBox="1"/>
          <p:nvPr/>
        </p:nvSpPr>
        <p:spPr>
          <a:xfrm rot="16200000">
            <a:off x="-1007796" y="3030530"/>
            <a:ext cx="37994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accent1"/>
                </a:solidFill>
              </a:rPr>
              <a:t>Exemple </a:t>
            </a:r>
            <a:r>
              <a:rPr lang="fr-FR" sz="3600" dirty="0">
                <a:solidFill>
                  <a:schemeClr val="accent1"/>
                </a:solidFill>
              </a:rPr>
              <a:t>(suite)</a:t>
            </a:r>
            <a:endParaRPr lang="fr-FR" sz="4800" dirty="0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628D4759-F5A5-ACA4-8838-2A4C367E6802}"/>
                  </a:ext>
                </a:extLst>
              </p:cNvPr>
              <p:cNvSpPr txBox="1"/>
              <p:nvPr/>
            </p:nvSpPr>
            <p:spPr>
              <a:xfrm>
                <a:off x="1625407" y="1990983"/>
                <a:ext cx="10253478" cy="29854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fr-FR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Les données financières associées au projet sont :</a:t>
                </a:r>
              </a:p>
              <a:p>
                <a:pPr marL="800100" lvl="1" indent="-342900"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pitchFamily="2" charset="2"/>
                  <a:buChar char="§"/>
                </a:pPr>
                <a:r>
                  <a:rPr lang="fr-F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Investissement initial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4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𝑰</m:t>
                        </m:r>
                      </m:e>
                      <m:sub>
                        <m:r>
                          <a:rPr lang="fr-FR" sz="24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𝒊𝒏𝒊𝒕𝒊𝒂𝒍</m:t>
                        </m:r>
                      </m:sub>
                    </m:sSub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𝟏𝟎𝟎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𝟎𝟎𝟎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€ </m:t>
                    </m:r>
                  </m:oMath>
                </a14:m>
                <a:r>
                  <a:rPr lang="fr-F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  <a:p>
                <a:pPr marL="800100" lvl="1" indent="-342900"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pitchFamily="2" charset="2"/>
                  <a:buChar char="§"/>
                </a:pPr>
                <a:r>
                  <a:rPr lang="fr-F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Gain de potentiel en cas de succès :</a:t>
                </a:r>
                <a:r>
                  <a:rPr lang="fr-FR" sz="2400" b="1" dirty="0"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4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𝑮</m:t>
                        </m:r>
                      </m:e>
                      <m:sub>
                        <m:r>
                          <a:rPr lang="fr-FR" sz="24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𝒔𝒖𝒄𝒄</m:t>
                        </m:r>
                        <m:r>
                          <a:rPr lang="fr-FR" sz="24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è</m:t>
                        </m:r>
                        <m:r>
                          <a:rPr lang="fr-FR" sz="24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𝒔</m:t>
                        </m:r>
                      </m:sub>
                    </m:sSub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𝟐𝟎𝟎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𝟎𝟎𝟎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€</m:t>
                    </m:r>
                  </m:oMath>
                </a14:m>
                <a:r>
                  <a:rPr lang="fr-F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br>
                  <a:rPr lang="fr-F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fr-F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(bénéfice net après soustraction de l'investissement initial).</a:t>
                </a:r>
              </a:p>
              <a:p>
                <a:pPr marL="800100" lvl="1" indent="-342900"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pitchFamily="2" charset="2"/>
                  <a:buChar char="§"/>
                </a:pPr>
                <a:r>
                  <a:rPr lang="fr-F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Perte en cas d'échec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4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𝑷</m:t>
                        </m:r>
                      </m:e>
                      <m:sub>
                        <m:r>
                          <a:rPr lang="fr-FR" sz="24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é</m:t>
                        </m:r>
                        <m:r>
                          <a:rPr lang="fr-FR" sz="2400" b="1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𝒄𝒉𝒆𝒄</m:t>
                        </m:r>
                      </m:sub>
                    </m:sSub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=−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𝟏𝟎𝟎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𝟎𝟎𝟎</m:t>
                    </m:r>
                    <m:r>
                      <a:rPr lang="fr-FR" sz="24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€</m:t>
                    </m:r>
                  </m:oMath>
                </a14:m>
                <a:br>
                  <a:rPr lang="fr-F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</a:br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fr-F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(investissement entièrement perdu)</a:t>
                </a:r>
                <a:r>
                  <a:rPr lang="fr-F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.</a:t>
                </a:r>
              </a:p>
              <a:p>
                <a:pPr marL="800100" lvl="1" indent="-342900">
                  <a:spcAft>
                    <a:spcPts val="600"/>
                  </a:spcAft>
                  <a:buClr>
                    <a:srgbClr val="C00000"/>
                  </a:buClr>
                  <a:buFont typeface="Wingdings" panose="05000000000000000000" pitchFamily="2" charset="2"/>
                  <a:buChar char="§"/>
                </a:pPr>
                <a:r>
                  <a:rPr lang="fr-F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L'entreprise peut également ne pas investir </a:t>
                </a:r>
                <a:r>
                  <a:rPr lang="fr-F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ce qui signifie un gain net nul (</a:t>
                </a:r>
                <a14:m>
                  <m:oMath xmlns:m="http://schemas.openxmlformats.org/officeDocument/2006/math">
                    <m:r>
                      <a:rPr lang="fr-FR" sz="20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𝟎</m:t>
                    </m:r>
                    <m:r>
                      <a:rPr lang="fr-FR" sz="2000" b="1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€</m:t>
                    </m:r>
                  </m:oMath>
                </a14:m>
                <a:r>
                  <a:rPr lang="fr-FR" sz="20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).</a:t>
                </a:r>
                <a:endParaRPr lang="fr-FR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1" name="ZoneTexte 10">
                <a:extLst>
                  <a:ext uri="{FF2B5EF4-FFF2-40B4-BE49-F238E27FC236}">
                    <a16:creationId xmlns:a16="http://schemas.microsoft.com/office/drawing/2014/main" id="{628D4759-F5A5-ACA4-8838-2A4C367E68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5407" y="1990983"/>
                <a:ext cx="10253478" cy="2985433"/>
              </a:xfrm>
              <a:prstGeom prst="rect">
                <a:avLst/>
              </a:prstGeom>
              <a:blipFill>
                <a:blip r:embed="rId4"/>
                <a:stretch>
                  <a:fillRect l="-1249" t="-2045" b="-388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66104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51869-E00F-8BA2-543F-B242BB6FC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C903008-FF08-BB9D-8C68-A8600614A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2C2D39F-E6D7-3E15-88ED-FA5355AEF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15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101826-2969-9BF2-C2C7-2430E33C050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F391C055-175C-B936-A877-A91C6AAD88D0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99753289-F760-9E6B-2B04-F74E7F2A06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BC39B58C-4C5F-22BD-0CC8-E149D947BA2C}"/>
              </a:ext>
            </a:extLst>
          </p:cNvPr>
          <p:cNvSpPr txBox="1"/>
          <p:nvPr/>
        </p:nvSpPr>
        <p:spPr>
          <a:xfrm>
            <a:off x="2324099" y="137792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1. Arbres de décision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85D9C06-C722-0239-8221-A2846C81851D}"/>
              </a:ext>
            </a:extLst>
          </p:cNvPr>
          <p:cNvSpPr txBox="1"/>
          <p:nvPr/>
        </p:nvSpPr>
        <p:spPr>
          <a:xfrm rot="16200000">
            <a:off x="-1007796" y="3030530"/>
            <a:ext cx="37994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accent1"/>
                </a:solidFill>
              </a:rPr>
              <a:t>Exemple </a:t>
            </a:r>
            <a:r>
              <a:rPr lang="fr-FR" sz="3600" dirty="0">
                <a:solidFill>
                  <a:schemeClr val="accent1"/>
                </a:solidFill>
              </a:rPr>
              <a:t>(suite)</a:t>
            </a:r>
            <a:endParaRPr lang="fr-FR" sz="4800" dirty="0">
              <a:solidFill>
                <a:schemeClr val="accent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F70C7C42-0D85-E2C9-0261-D3C3E1E8D212}"/>
              </a:ext>
            </a:extLst>
          </p:cNvPr>
          <p:cNvSpPr txBox="1"/>
          <p:nvPr/>
        </p:nvSpPr>
        <p:spPr>
          <a:xfrm>
            <a:off x="1694682" y="2331782"/>
            <a:ext cx="10253478" cy="21082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FR" sz="3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Étapes de résolution avec un arbre de décision :</a:t>
            </a:r>
          </a:p>
          <a:p>
            <a:pPr marL="971550" lvl="1" indent="-514350">
              <a:spcAft>
                <a:spcPts val="600"/>
              </a:spcAft>
              <a:buClr>
                <a:srgbClr val="C00000"/>
              </a:buClr>
              <a:buFont typeface="+mj-lt"/>
              <a:buAutoNum type="alphaLcParenR"/>
            </a:pPr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Représentation de l'arbre</a:t>
            </a:r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marL="971550" lvl="1" indent="-514350">
              <a:spcAft>
                <a:spcPts val="600"/>
              </a:spcAft>
              <a:buClr>
                <a:srgbClr val="C00000"/>
              </a:buClr>
              <a:buFont typeface="+mj-lt"/>
              <a:buAutoNum type="alphaLcParenR"/>
            </a:pPr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 des valeurs attendues</a:t>
            </a:r>
          </a:p>
          <a:p>
            <a:pPr marL="971550" lvl="1" indent="-514350">
              <a:spcAft>
                <a:spcPts val="600"/>
              </a:spcAft>
              <a:buClr>
                <a:srgbClr val="C00000"/>
              </a:buClr>
              <a:buFont typeface="+mj-lt"/>
              <a:buAutoNum type="alphaLcParenR"/>
            </a:pPr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Comparaison des valeurs attendues et décision finale</a:t>
            </a:r>
          </a:p>
        </p:txBody>
      </p:sp>
    </p:spTree>
    <p:extLst>
      <p:ext uri="{BB962C8B-B14F-4D97-AF65-F5344CB8AC3E}">
        <p14:creationId xmlns:p14="http://schemas.microsoft.com/office/powerpoint/2010/main" val="34504822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68D5E-9FC0-3739-835E-5C9BD2944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0408BB5C-DEAB-3A74-79C3-119F51C32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6F6268A-3E82-00DB-BF6D-B7A71A995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16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8E3205E-83BC-305C-1F62-74F222737B9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64C0535-41B4-18A3-54E8-F0E21B357D28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154B8446-E0EB-71E9-B334-A984189993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D59E0F57-5535-F09E-FC97-01DE5A99FAB1}"/>
              </a:ext>
            </a:extLst>
          </p:cNvPr>
          <p:cNvSpPr txBox="1"/>
          <p:nvPr/>
        </p:nvSpPr>
        <p:spPr>
          <a:xfrm>
            <a:off x="2324099" y="137792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1. Arbres de décision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0D3B1F2-5BCF-6D82-1278-FB4CF0F22101}"/>
              </a:ext>
            </a:extLst>
          </p:cNvPr>
          <p:cNvSpPr txBox="1"/>
          <p:nvPr/>
        </p:nvSpPr>
        <p:spPr>
          <a:xfrm rot="16200000">
            <a:off x="-577390" y="3030530"/>
            <a:ext cx="29386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accent1"/>
                </a:solidFill>
              </a:rPr>
              <a:t>Exemple </a:t>
            </a:r>
            <a:r>
              <a:rPr lang="fr-FR" sz="3600" dirty="0">
                <a:solidFill>
                  <a:schemeClr val="accent1"/>
                </a:solidFill>
              </a:rPr>
              <a:t>(?)</a:t>
            </a:r>
            <a:endParaRPr lang="fr-FR" sz="4800" dirty="0">
              <a:solidFill>
                <a:schemeClr val="accent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3DB323-8464-76B4-68A0-8DD6591638EF}"/>
              </a:ext>
            </a:extLst>
          </p:cNvPr>
          <p:cNvSpPr txBox="1"/>
          <p:nvPr/>
        </p:nvSpPr>
        <p:spPr>
          <a:xfrm>
            <a:off x="1694682" y="2099696"/>
            <a:ext cx="102534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600"/>
              </a:spcAft>
              <a:buClr>
                <a:srgbClr val="C00000"/>
              </a:buClr>
              <a:buFont typeface="+mj-lt"/>
              <a:buAutoNum type="alphaLcParenR" startAt="3"/>
            </a:pPr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comparaison des valeurs attendues | décision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2E423982-6D4B-2A86-BB70-69F3BC20118F}"/>
                  </a:ext>
                </a:extLst>
              </p:cNvPr>
              <p:cNvSpPr txBox="1"/>
              <p:nvPr/>
            </p:nvSpPr>
            <p:spPr>
              <a:xfrm>
                <a:off x="2618508" y="2622916"/>
                <a:ext cx="6844147" cy="1064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fr-FR" sz="2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Investir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</m:e>
                      <m:sub>
                        <m:r>
                          <a:rPr lang="fr-F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𝑖𝑛𝑣𝑒𝑠𝑡𝑖𝑟</m:t>
                        </m:r>
                      </m:sub>
                    </m:sSub>
                    <m:r>
                      <a:rPr lang="fr-FR" sz="2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fr-FR" sz="2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?€</m:t>
                    </m:r>
                  </m:oMath>
                </a14:m>
                <a:endParaRPr lang="fr-FR" sz="2800" b="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sz="2800" b="1" i="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</m:t>
                    </m:r>
                    <m:r>
                      <m:rPr>
                        <m:nor/>
                      </m:rPr>
                      <a:rPr lang="fr-FR" sz="2800" b="1" i="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fr-FR" sz="2800" b="1" i="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pas</m:t>
                    </m:r>
                    <m:r>
                      <m:rPr>
                        <m:nor/>
                      </m:rPr>
                      <a:rPr lang="fr-FR" sz="2800" b="1" i="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fr-FR" sz="2800" b="1" i="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investir</m:t>
                    </m:r>
                    <m:r>
                      <m:rPr>
                        <m:nor/>
                      </m:rPr>
                      <a:rPr lang="fr-FR" sz="28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: </m:t>
                    </m:r>
                    <m:sSub>
                      <m:sSubPr>
                        <m:ctrlPr>
                          <a:rPr lang="fr-FR" sz="2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</m:e>
                      <m:sub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𝑛𝑒</m:t>
                        </m:r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𝑝𝑎𝑠</m:t>
                        </m:r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fr-F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𝑖𝑛𝑣𝑒𝑠𝑡𝑖𝑟</m:t>
                        </m:r>
                      </m:sub>
                    </m:sSub>
                    <m:r>
                      <a:rPr lang="fr-FR" sz="2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 ? €</m:t>
                    </m:r>
                  </m:oMath>
                </a14:m>
                <a:endParaRPr lang="fr-FR" sz="18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2E423982-6D4B-2A86-BB70-69F3BC2011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508" y="2622916"/>
                <a:ext cx="6844147" cy="1064266"/>
              </a:xfrm>
              <a:prstGeom prst="rect">
                <a:avLst/>
              </a:prstGeom>
              <a:blipFill>
                <a:blip r:embed="rId4"/>
                <a:stretch>
                  <a:fillRect l="-1604" t="-51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èche : bas 7">
            <a:extLst>
              <a:ext uri="{FF2B5EF4-FFF2-40B4-BE49-F238E27FC236}">
                <a16:creationId xmlns:a16="http://schemas.microsoft.com/office/drawing/2014/main" id="{1E5A6933-6914-9A47-D767-9A63B27EBC2C}"/>
              </a:ext>
            </a:extLst>
          </p:cNvPr>
          <p:cNvSpPr/>
          <p:nvPr/>
        </p:nvSpPr>
        <p:spPr>
          <a:xfrm>
            <a:off x="6289966" y="3823855"/>
            <a:ext cx="983673" cy="52322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A6599E2-4204-D9AE-C0C4-156CE95D7249}"/>
              </a:ext>
            </a:extLst>
          </p:cNvPr>
          <p:cNvSpPr txBox="1"/>
          <p:nvPr/>
        </p:nvSpPr>
        <p:spPr>
          <a:xfrm>
            <a:off x="2466110" y="4404369"/>
            <a:ext cx="8797636" cy="523220"/>
          </a:xfrm>
          <a:prstGeom prst="rect">
            <a:avLst/>
          </a:prstGeom>
          <a:noFill/>
          <a:ln w="57150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Décision ?</a:t>
            </a:r>
            <a:endParaRPr lang="fr-FR" sz="1800" b="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3" name="Graphique 12" descr="Sonnerie d’alarme avec un remplissage uni">
            <a:extLst>
              <a:ext uri="{FF2B5EF4-FFF2-40B4-BE49-F238E27FC236}">
                <a16:creationId xmlns:a16="http://schemas.microsoft.com/office/drawing/2014/main" id="{CF00EDB1-C970-C554-9D73-BED6D05EAEF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286106" y="1502324"/>
            <a:ext cx="914400" cy="914400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2525B49F-3E1F-EA37-55A6-60D16C37601B}"/>
              </a:ext>
            </a:extLst>
          </p:cNvPr>
          <p:cNvSpPr txBox="1"/>
          <p:nvPr/>
        </p:nvSpPr>
        <p:spPr>
          <a:xfrm>
            <a:off x="10552738" y="2306593"/>
            <a:ext cx="4379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2800" dirty="0">
                <a:solidFill>
                  <a:schemeClr val="accent1"/>
                </a:solidFill>
              </a:rPr>
              <a:t>5’</a:t>
            </a:r>
          </a:p>
        </p:txBody>
      </p:sp>
    </p:spTree>
    <p:extLst>
      <p:ext uri="{BB962C8B-B14F-4D97-AF65-F5344CB8AC3E}">
        <p14:creationId xmlns:p14="http://schemas.microsoft.com/office/powerpoint/2010/main" val="1511649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9924FA-1123-82FA-21C3-51342D2A31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F866A2A-8611-E4AB-00F3-A681C9FFBB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33B1B63-717F-1D8F-7360-21DC246D2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17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939D97-C3E1-1130-5369-8E6A14263F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A8E27C3-2193-43D0-C73C-C70EFA25BACB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2A1CB418-5FA9-CDE2-DBB2-FF2309B50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80B27649-531C-EB7C-91F9-87090B252A96}"/>
              </a:ext>
            </a:extLst>
          </p:cNvPr>
          <p:cNvSpPr txBox="1"/>
          <p:nvPr/>
        </p:nvSpPr>
        <p:spPr>
          <a:xfrm>
            <a:off x="2324099" y="137792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1. Arbres de décision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E84CAE2-C11B-996D-4B44-072EC654BFED}"/>
              </a:ext>
            </a:extLst>
          </p:cNvPr>
          <p:cNvSpPr txBox="1"/>
          <p:nvPr/>
        </p:nvSpPr>
        <p:spPr>
          <a:xfrm rot="16200000">
            <a:off x="-1007796" y="3030530"/>
            <a:ext cx="37994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accent1"/>
                </a:solidFill>
              </a:rPr>
              <a:t>Exemple </a:t>
            </a:r>
            <a:r>
              <a:rPr lang="fr-FR" sz="3600" dirty="0">
                <a:solidFill>
                  <a:schemeClr val="accent1"/>
                </a:solidFill>
              </a:rPr>
              <a:t>(suite)</a:t>
            </a:r>
            <a:endParaRPr lang="fr-FR" sz="4800" dirty="0">
              <a:solidFill>
                <a:schemeClr val="accent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DBB3AD0E-7FE1-E81F-9D4E-478798D39502}"/>
              </a:ext>
            </a:extLst>
          </p:cNvPr>
          <p:cNvSpPr txBox="1"/>
          <p:nvPr/>
        </p:nvSpPr>
        <p:spPr>
          <a:xfrm>
            <a:off x="1694682" y="2099696"/>
            <a:ext cx="102534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600"/>
              </a:spcAft>
              <a:buClr>
                <a:srgbClr val="C00000"/>
              </a:buClr>
              <a:buFont typeface="+mj-lt"/>
              <a:buAutoNum type="alphaLcParenR"/>
            </a:pPr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Représentation de l'arbre</a:t>
            </a:r>
          </a:p>
        </p:txBody>
      </p:sp>
      <p:graphicFrame>
        <p:nvGraphicFramePr>
          <p:cNvPr id="8" name="Diagramme 7">
            <a:extLst>
              <a:ext uri="{FF2B5EF4-FFF2-40B4-BE49-F238E27FC236}">
                <a16:creationId xmlns:a16="http://schemas.microsoft.com/office/drawing/2014/main" id="{849ED078-5DBC-E690-1AA2-9D6F6A89101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6562911"/>
              </p:ext>
            </p:extLst>
          </p:nvPr>
        </p:nvGraphicFramePr>
        <p:xfrm>
          <a:off x="2324099" y="2821467"/>
          <a:ext cx="8288483" cy="251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20772382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389F2D-AF54-A34C-F249-A2FA1E390A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9CAF210-2584-38D8-A3B0-3BE4A7C5D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C43091E-09F7-5B07-2530-3D1298C6F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18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6F4CB00-1D14-A6BA-258B-CE457BA48E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115D8EB7-2109-4869-1491-036C10026325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E43D3A9E-6BEF-1864-D3AE-2127F7C53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4F1F4C49-2B8D-B817-7636-64959B3BEF71}"/>
              </a:ext>
            </a:extLst>
          </p:cNvPr>
          <p:cNvSpPr txBox="1"/>
          <p:nvPr/>
        </p:nvSpPr>
        <p:spPr>
          <a:xfrm>
            <a:off x="2324099" y="137792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1. Arbres de décision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30679A11-6E01-CC84-D438-16A304E90820}"/>
              </a:ext>
            </a:extLst>
          </p:cNvPr>
          <p:cNvSpPr txBox="1"/>
          <p:nvPr/>
        </p:nvSpPr>
        <p:spPr>
          <a:xfrm rot="16200000">
            <a:off x="-1007796" y="3030530"/>
            <a:ext cx="37994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accent1"/>
                </a:solidFill>
              </a:rPr>
              <a:t>Exemple </a:t>
            </a:r>
            <a:r>
              <a:rPr lang="fr-FR" sz="3600" dirty="0">
                <a:solidFill>
                  <a:schemeClr val="accent1"/>
                </a:solidFill>
              </a:rPr>
              <a:t>(suite)</a:t>
            </a:r>
            <a:endParaRPr lang="fr-FR" sz="4800" dirty="0">
              <a:solidFill>
                <a:schemeClr val="accent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9DF63AF8-46EF-A913-E983-FF84D227CCF5}"/>
              </a:ext>
            </a:extLst>
          </p:cNvPr>
          <p:cNvSpPr txBox="1"/>
          <p:nvPr/>
        </p:nvSpPr>
        <p:spPr>
          <a:xfrm>
            <a:off x="1694682" y="2099696"/>
            <a:ext cx="102534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600"/>
              </a:spcAft>
              <a:buClr>
                <a:srgbClr val="C00000"/>
              </a:buClr>
              <a:buFont typeface="+mj-lt"/>
              <a:buAutoNum type="alphaLcPeriod" startAt="2"/>
            </a:pPr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 des valeurs attendues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1D4857B4-8EEA-01D3-E107-E9790FC20D9D}"/>
                  </a:ext>
                </a:extLst>
              </p:cNvPr>
              <p:cNvSpPr txBox="1"/>
              <p:nvPr/>
            </p:nvSpPr>
            <p:spPr>
              <a:xfrm>
                <a:off x="2119744" y="2622916"/>
                <a:ext cx="9047020" cy="180434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fr-F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La valeur attendue (</a:t>
                </a:r>
                <a14:m>
                  <m:oMath xmlns:m="http://schemas.openxmlformats.org/officeDocument/2006/math">
                    <m:r>
                      <a:rPr lang="fr-FR" sz="240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𝑉</m:t>
                    </m:r>
                    <m:r>
                      <a:rPr lang="fr-FR" sz="24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𝐴</m:t>
                    </m:r>
                  </m:oMath>
                </a14:m>
                <a:r>
                  <a:rPr lang="fr-F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) pour chaque décision est calculée comme suit 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80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𝑉</m:t>
                      </m:r>
                      <m:r>
                        <a:rPr lang="fr-FR" sz="28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𝐴</m:t>
                      </m:r>
                      <m:r>
                        <a:rPr lang="fr-FR" sz="28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=</m:t>
                      </m:r>
                      <m:nary>
                        <m:naryPr>
                          <m:chr m:val="∑"/>
                          <m:subHide m:val="on"/>
                          <m:supHide m:val="on"/>
                          <m:ctrlPr>
                            <a:rPr lang="fr-FR" sz="2800" b="0" i="1" dirty="0" smtClean="0">
                              <a:latin typeface="Cambria Math" panose="02040503050406030204" pitchFamily="18" charset="0"/>
                              <a:ea typeface="Calibri" panose="020F0502020204030204" pitchFamily="34" charset="0"/>
                              <a:cs typeface="Calibri" panose="020F0502020204030204" pitchFamily="34" charset="0"/>
                            </a:rPr>
                          </m:ctrlPr>
                        </m:naryPr>
                        <m:sub/>
                        <m:sup/>
                        <m:e>
                          <m:d>
                            <m:dPr>
                              <m:ctrlPr>
                                <a:rPr lang="fr-FR" sz="2800" b="0" i="1" dirty="0" smtClean="0">
                                  <a:latin typeface="Cambria Math" panose="02040503050406030204" pitchFamily="18" charset="0"/>
                                  <a:ea typeface="Calibri" panose="020F0502020204030204" pitchFamily="34" charset="0"/>
                                  <a:cs typeface="Calibri" panose="020F0502020204030204" pitchFamily="34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800" b="0" i="1" dirty="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800" b="0" i="1" dirty="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𝑃𝑟𝑜𝑏𝑎</m:t>
                                  </m:r>
                                </m:e>
                                <m:sub>
                                  <m:r>
                                    <a:rPr lang="fr-FR" sz="2800" b="0" i="1" dirty="0" smtClean="0">
                                      <a:latin typeface="Cambria Math" panose="02040503050406030204" pitchFamily="18" charset="0"/>
                                      <a:ea typeface="Calibri" panose="020F0502020204030204" pitchFamily="34" charset="0"/>
                                      <a:cs typeface="Calibri" panose="020F050202020403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fr-FR" sz="2800" b="0" i="1" dirty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Calibri" panose="020F0502020204030204" pitchFamily="34" charset="0"/>
                                </a:rPr>
                                <m:t>×</m:t>
                              </m:r>
                              <m:sSub>
                                <m:sSubPr>
                                  <m:ctrlPr>
                                    <a:rPr lang="fr-FR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fr-FR" sz="28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  <a:cs typeface="Calibri" panose="020F0502020204030204" pitchFamily="34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</m:nary>
                      <m:r>
                        <a:rPr lang="fr-FR" sz="2800" b="0" i="1" dirty="0" smtClean="0">
                          <a:latin typeface="Cambria Math" panose="02040503050406030204" pitchFamily="18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m:t> </m:t>
                      </m:r>
                    </m:oMath>
                  </m:oMathPara>
                </a14:m>
                <a:endParaRPr lang="fr-FR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r>
                  <a:rPr lang="fr-F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Où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𝑃𝑟𝑜𝑏𝑎</m:t>
                        </m:r>
                      </m:e>
                      <m:sub>
                        <m:r>
                          <a:rPr lang="fr-FR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𝑗</m:t>
                        </m:r>
                      </m:sub>
                    </m:sSub>
                    <m:r>
                      <a:rPr lang="fr-FR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fr-F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​ est la probabilité de l'événement j et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𝑉</m:t>
                        </m:r>
                      </m:e>
                      <m:sub>
                        <m:r>
                          <a:rPr lang="fr-FR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𝑗</m:t>
                        </m:r>
                      </m:sub>
                    </m:sSub>
                    <m:r>
                      <a:rPr lang="fr-FR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 </m:t>
                    </m:r>
                  </m:oMath>
                </a14:m>
                <a:r>
                  <a:rPr lang="fr-FR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est la valeur associée.</a:t>
                </a:r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1D4857B4-8EEA-01D3-E107-E9790FC20D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744" y="2622916"/>
                <a:ext cx="9047020" cy="1804340"/>
              </a:xfrm>
              <a:prstGeom prst="rect">
                <a:avLst/>
              </a:prstGeom>
              <a:blipFill>
                <a:blip r:embed="rId4"/>
                <a:stretch>
                  <a:fillRect l="-1078" t="-2703" r="-741" b="-3378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5623595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F24019-6B78-AB5C-C348-951966C3A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1DA52100-3B23-70C5-BB36-17FB81675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C7B2785-F343-884A-6CA2-973ABC32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19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FEE79DB-DBD4-5C8C-52B9-B984F3F8625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4D9DC31A-71F8-CA71-CD0F-5961A0A9F6D8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E5FD2686-A1A9-31F3-4436-630B9A9A70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3E8EB5F5-28AA-BCE0-FCD7-52AA1AD61224}"/>
              </a:ext>
            </a:extLst>
          </p:cNvPr>
          <p:cNvSpPr txBox="1"/>
          <p:nvPr/>
        </p:nvSpPr>
        <p:spPr>
          <a:xfrm>
            <a:off x="2324099" y="137792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1. Arbres de décision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29BB85D-2D8A-B755-536A-3CF038E27804}"/>
              </a:ext>
            </a:extLst>
          </p:cNvPr>
          <p:cNvSpPr txBox="1"/>
          <p:nvPr/>
        </p:nvSpPr>
        <p:spPr>
          <a:xfrm rot="16200000">
            <a:off x="-1007796" y="3030530"/>
            <a:ext cx="379943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accent1"/>
                </a:solidFill>
              </a:rPr>
              <a:t>Exemple </a:t>
            </a:r>
            <a:r>
              <a:rPr lang="fr-FR" sz="3600" dirty="0">
                <a:solidFill>
                  <a:schemeClr val="accent1"/>
                </a:solidFill>
              </a:rPr>
              <a:t>(suite)</a:t>
            </a:r>
            <a:endParaRPr lang="fr-FR" sz="4800" dirty="0">
              <a:solidFill>
                <a:schemeClr val="accent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E05EE24E-75D2-F6C4-6DC1-3D38FC7A9ED6}"/>
              </a:ext>
            </a:extLst>
          </p:cNvPr>
          <p:cNvSpPr txBox="1"/>
          <p:nvPr/>
        </p:nvSpPr>
        <p:spPr>
          <a:xfrm>
            <a:off x="1694682" y="1988856"/>
            <a:ext cx="102534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600"/>
              </a:spcAft>
              <a:buClr>
                <a:srgbClr val="C00000"/>
              </a:buClr>
              <a:buFont typeface="+mj-lt"/>
              <a:buAutoNum type="alphaLcParenR" startAt="2"/>
            </a:pPr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 des valeurs attendues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FFA7D576-3EB7-7234-125E-8408718FD821}"/>
                  </a:ext>
                </a:extLst>
              </p:cNvPr>
              <p:cNvSpPr txBox="1"/>
              <p:nvPr/>
            </p:nvSpPr>
            <p:spPr>
              <a:xfrm>
                <a:off x="2119744" y="2512076"/>
                <a:ext cx="9595832" cy="193899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fr-F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La valeur attendue pour investir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</m:e>
                      <m:sub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𝑖𝑛𝑣𝑒𝑠𝑡𝑖𝑟</m:t>
                        </m:r>
                      </m:sub>
                    </m:sSub>
                  </m:oMath>
                </a14:m>
                <a:endParaRPr lang="fr-FR" sz="240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4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</m:e>
                      <m:sub>
                        <m:r>
                          <a:rPr lang="fr-FR" sz="24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𝑖𝑛𝑣𝑒𝑠𝑡𝑖𝑟</m:t>
                        </m:r>
                      </m:sub>
                    </m:sSub>
                    <m:r>
                      <a:rPr lang="fr-FR" sz="24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 </m:t>
                    </m:r>
                    <m:sSub>
                      <m:sSubPr>
                        <m:ctrlP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𝑃𝑟𝑜𝑏𝑎</m:t>
                        </m:r>
                      </m:e>
                      <m:sub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𝑠𝑢𝑐𝑐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è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𝑠</m:t>
                        </m:r>
                      </m:sub>
                    </m:sSub>
                    <m:r>
                      <a:rPr lang="fr-FR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sSub>
                      <m:sSubPr>
                        <m:ctrlPr>
                          <a:rPr lang="fr-F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𝐺</m:t>
                        </m:r>
                      </m:e>
                      <m:sub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𝑠𝑢𝑐𝑐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è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𝑠</m:t>
                        </m:r>
                      </m:sub>
                    </m:sSub>
                    <m:r>
                      <a:rPr lang="fr-FR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sSub>
                      <m:sSubPr>
                        <m:ctrlPr>
                          <a:rPr lang="fr-F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𝑃𝑟𝑜𝑏𝑎</m:t>
                        </m:r>
                      </m:e>
                      <m:sub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é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𝑐h𝑒𝑐</m:t>
                        </m:r>
                      </m:sub>
                    </m:sSub>
                    <m:r>
                      <a:rPr lang="fr-FR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sSub>
                      <m:sSubPr>
                        <m:ctrlPr>
                          <a:rPr lang="fr-F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𝑃</m:t>
                        </m:r>
                      </m:e>
                      <m:sub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é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libri" panose="020F0502020204030204" pitchFamily="34" charset="0"/>
                          </a:rPr>
                          <m:t>𝑐h𝑒𝑐</m:t>
                        </m:r>
                      </m:sub>
                    </m:sSub>
                  </m:oMath>
                </a14:m>
                <a:endParaRPr lang="fr-FR" sz="16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4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</m:e>
                      <m:sub>
                        <m:r>
                          <a:rPr lang="fr-FR" sz="24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𝑖𝑛𝑣𝑒𝑠𝑡𝑖𝑟</m:t>
                        </m:r>
                      </m:sub>
                    </m:sSub>
                    <m:r>
                      <a:rPr lang="fr-FR" sz="24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fr-FR" sz="24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70%</m:t>
                    </m:r>
                    <m:r>
                      <a:rPr lang="fr-F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r>
                      <a:rPr lang="fr-FR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200 000 €</m:t>
                    </m:r>
                    <m:r>
                      <a:rPr lang="fr-F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+</m:t>
                    </m:r>
                    <m:r>
                      <a:rPr lang="fr-FR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30%</m:t>
                    </m:r>
                    <m:r>
                      <a:rPr lang="fr-FR" sz="2400" i="1" dirty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</m:t>
                    </m:r>
                    <m:r>
                      <a:rPr lang="fr-FR" sz="2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(−100 000 €)</m:t>
                    </m:r>
                  </m:oMath>
                </a14:m>
                <a:endParaRPr lang="fr-FR" sz="16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4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</m:e>
                      <m:sub>
                        <m:r>
                          <a:rPr lang="fr-FR" sz="24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𝑖𝑛𝑣𝑒𝑠𝑡𝑖𝑟</m:t>
                        </m:r>
                      </m:sub>
                    </m:sSub>
                    <m:r>
                      <a:rPr lang="fr-FR" sz="24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fr-FR" sz="24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110 000 €</m:t>
                    </m:r>
                  </m:oMath>
                </a14:m>
                <a:endParaRPr lang="fr-FR" sz="2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FFA7D576-3EB7-7234-125E-8408718FD8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744" y="2512076"/>
                <a:ext cx="9595832" cy="1938992"/>
              </a:xfrm>
              <a:prstGeom prst="rect">
                <a:avLst/>
              </a:prstGeom>
              <a:blipFill>
                <a:blip r:embed="rId4"/>
                <a:stretch>
                  <a:fillRect l="-1017" t="-2516" b="-188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2398137D-D542-DD4A-0484-67A60FF46140}"/>
                  </a:ext>
                </a:extLst>
              </p:cNvPr>
              <p:cNvSpPr txBox="1"/>
              <p:nvPr/>
            </p:nvSpPr>
            <p:spPr>
              <a:xfrm>
                <a:off x="2119744" y="4519114"/>
                <a:ext cx="9595832" cy="104195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fr-FR" sz="24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La valeur attendue pour ne pas investir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</m:e>
                      <m:sub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𝑛𝑒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𝑝𝑎𝑠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𝑖𝑛𝑣𝑒𝑠𝑡𝑖𝑟</m:t>
                        </m:r>
                      </m:sub>
                    </m:sSub>
                  </m:oMath>
                </a14:m>
                <a:endParaRPr lang="fr-FR" sz="2400" i="1" dirty="0">
                  <a:latin typeface="Cambria Math" panose="02040503050406030204" pitchFamily="18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4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</m:e>
                      <m:sub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𝑛𝑒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𝑝𝑎𝑠</m:t>
                        </m:r>
                        <m:r>
                          <a:rPr lang="fr-FR" sz="24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fr-FR" sz="24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𝑖𝑛𝑣𝑒𝑠𝑡𝑖𝑟</m:t>
                        </m:r>
                      </m:sub>
                    </m:sSub>
                    <m:r>
                      <a:rPr lang="fr-FR" sz="24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=0 €</m:t>
                    </m:r>
                  </m:oMath>
                </a14:m>
                <a:endParaRPr lang="fr-FR" sz="16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8" name="ZoneTexte 7">
                <a:extLst>
                  <a:ext uri="{FF2B5EF4-FFF2-40B4-BE49-F238E27FC236}">
                    <a16:creationId xmlns:a16="http://schemas.microsoft.com/office/drawing/2014/main" id="{2398137D-D542-DD4A-0484-67A60FF461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744" y="4519114"/>
                <a:ext cx="9595832" cy="1041952"/>
              </a:xfrm>
              <a:prstGeom prst="rect">
                <a:avLst/>
              </a:prstGeom>
              <a:blipFill>
                <a:blip r:embed="rId5"/>
                <a:stretch>
                  <a:fillRect l="-1017" t="-4094" b="-7602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61481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747EE7-EEE4-4FF5-B61A-0DEB99D36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8911A7D9-239C-392B-CB33-3F66B8C1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B65A299-28FF-06DA-DEAB-C8BAB22B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20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CC8508-4E4F-4DD9-3A73-3D22EECAA5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D0EBC18-15F7-5005-C9DC-92E5A8543FD9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F4DAE80D-F8A8-4812-7CBC-C36DD0943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A2B2144F-F3E1-5C42-2A36-B200B5B3927F}"/>
              </a:ext>
            </a:extLst>
          </p:cNvPr>
          <p:cNvSpPr txBox="1"/>
          <p:nvPr/>
        </p:nvSpPr>
        <p:spPr>
          <a:xfrm>
            <a:off x="2324099" y="137792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1. Arbres de décision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129D62C-6370-F4AB-DCE7-301E8BE4981A}"/>
              </a:ext>
            </a:extLst>
          </p:cNvPr>
          <p:cNvSpPr txBox="1"/>
          <p:nvPr/>
        </p:nvSpPr>
        <p:spPr>
          <a:xfrm rot="16200000">
            <a:off x="-707233" y="3030530"/>
            <a:ext cx="319831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accent1"/>
                </a:solidFill>
              </a:rPr>
              <a:t>Exemple </a:t>
            </a:r>
            <a:r>
              <a:rPr lang="fr-FR" sz="3600" dirty="0">
                <a:solidFill>
                  <a:schemeClr val="accent1"/>
                </a:solidFill>
              </a:rPr>
              <a:t>(fin)</a:t>
            </a:r>
            <a:endParaRPr lang="fr-FR" sz="4800" dirty="0">
              <a:solidFill>
                <a:schemeClr val="accent1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4711F62-7631-9A70-6498-3733AD8E315A}"/>
              </a:ext>
            </a:extLst>
          </p:cNvPr>
          <p:cNvSpPr txBox="1"/>
          <p:nvPr/>
        </p:nvSpPr>
        <p:spPr>
          <a:xfrm>
            <a:off x="1694682" y="2099696"/>
            <a:ext cx="1025347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14350" indent="-514350">
              <a:spcAft>
                <a:spcPts val="600"/>
              </a:spcAft>
              <a:buClr>
                <a:srgbClr val="C00000"/>
              </a:buClr>
              <a:buFont typeface="+mj-lt"/>
              <a:buAutoNum type="alphaLcParenR" startAt="3"/>
            </a:pPr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fr-FR" sz="28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comparaison des valeurs attendues | décision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0465AA4A-333B-DA96-ADED-267F1FF95B89}"/>
                  </a:ext>
                </a:extLst>
              </p:cNvPr>
              <p:cNvSpPr txBox="1"/>
              <p:nvPr/>
            </p:nvSpPr>
            <p:spPr>
              <a:xfrm>
                <a:off x="2618508" y="2622916"/>
                <a:ext cx="6844147" cy="10642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:r>
                  <a:rPr lang="fr-FR" sz="2800" b="1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Investir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</m:e>
                      <m:sub>
                        <m:r>
                          <a:rPr lang="fr-F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𝑖𝑛𝑣𝑒𝑠𝑡𝑖𝑟</m:t>
                        </m:r>
                      </m:sub>
                    </m:sSub>
                    <m:r>
                      <a:rPr lang="fr-FR" sz="2800" i="1" dirty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</m:t>
                    </m:r>
                    <m:r>
                      <a:rPr lang="fr-FR" sz="2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110 000 €</m:t>
                    </m:r>
                  </m:oMath>
                </a14:m>
                <a:endParaRPr lang="fr-FR" sz="28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457200" indent="-457200">
                  <a:spcAft>
                    <a:spcPts val="600"/>
                  </a:spcAft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fr-FR" sz="2800" b="1" i="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Ne</m:t>
                    </m:r>
                    <m:r>
                      <m:rPr>
                        <m:nor/>
                      </m:rPr>
                      <a:rPr lang="fr-FR" sz="2800" b="1" i="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fr-FR" sz="2800" b="1" i="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pas</m:t>
                    </m:r>
                    <m:r>
                      <m:rPr>
                        <m:nor/>
                      </m:rPr>
                      <a:rPr lang="fr-FR" sz="2800" b="1" i="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r>
                      <m:rPr>
                        <m:nor/>
                      </m:rPr>
                      <a:rPr lang="fr-FR" sz="2800" b="1" i="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investir</m:t>
                    </m:r>
                    <m:r>
                      <m:rPr>
                        <m:nor/>
                      </m:rPr>
                      <a:rPr lang="fr-FR" sz="28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: </m:t>
                    </m:r>
                    <m:sSub>
                      <m:sSubPr>
                        <m:ctrlPr>
                          <a:rPr lang="fr-FR" sz="2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</m:e>
                      <m:sub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𝑛𝑒</m:t>
                        </m:r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𝑝𝑎𝑠</m:t>
                        </m:r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fr-F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𝑖𝑛𝑣𝑒𝑠𝑡𝑖𝑟</m:t>
                        </m:r>
                      </m:sub>
                    </m:sSub>
                    <m:r>
                      <a:rPr lang="fr-FR" sz="2800" b="0" i="1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=0 €</m:t>
                    </m:r>
                  </m:oMath>
                </a14:m>
                <a:endParaRPr lang="fr-FR" sz="1800" b="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 xmlns="">
          <p:sp>
            <p:nvSpPr>
              <p:cNvPr id="16" name="ZoneTexte 15">
                <a:extLst>
                  <a:ext uri="{FF2B5EF4-FFF2-40B4-BE49-F238E27FC236}">
                    <a16:creationId xmlns:a16="http://schemas.microsoft.com/office/drawing/2014/main" id="{0465AA4A-333B-DA96-ADED-267F1FF95B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8508" y="2622916"/>
                <a:ext cx="6844147" cy="1064266"/>
              </a:xfrm>
              <a:prstGeom prst="rect">
                <a:avLst/>
              </a:prstGeom>
              <a:blipFill>
                <a:blip r:embed="rId4"/>
                <a:stretch>
                  <a:fillRect l="-1604" t="-5143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Flèche : bas 7">
            <a:extLst>
              <a:ext uri="{FF2B5EF4-FFF2-40B4-BE49-F238E27FC236}">
                <a16:creationId xmlns:a16="http://schemas.microsoft.com/office/drawing/2014/main" id="{4F7ABFA1-2C40-031E-BF8E-A7BDA6AEF511}"/>
              </a:ext>
            </a:extLst>
          </p:cNvPr>
          <p:cNvSpPr/>
          <p:nvPr/>
        </p:nvSpPr>
        <p:spPr>
          <a:xfrm>
            <a:off x="6289966" y="3823855"/>
            <a:ext cx="983673" cy="523220"/>
          </a:xfrm>
          <a:prstGeom prst="down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0151A1F-6308-ECC1-CA6C-BE20B8358D56}"/>
                  </a:ext>
                </a:extLst>
              </p:cNvPr>
              <p:cNvSpPr txBox="1"/>
              <p:nvPr/>
            </p:nvSpPr>
            <p:spPr>
              <a:xfrm>
                <a:off x="2466110" y="4404369"/>
                <a:ext cx="8797636" cy="987322"/>
              </a:xfrm>
              <a:prstGeom prst="rect">
                <a:avLst/>
              </a:prstGeom>
              <a:noFill/>
              <a:ln w="57150">
                <a:solidFill>
                  <a:schemeClr val="accent1"/>
                </a:solidFill>
              </a:ln>
            </p:spPr>
            <p:txBody>
              <a:bodyPr wrap="square">
                <a:spAutoFit/>
              </a:bodyPr>
              <a:lstStyle/>
              <a:p>
                <a:pPr>
                  <a:spcAft>
                    <a:spcPts val="600"/>
                  </a:spcAft>
                </a:pPr>
                <a:r>
                  <a:rPr lang="fr-FR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Puisque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</m:e>
                      <m:sub>
                        <m:r>
                          <a:rPr lang="fr-F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𝑖𝑛𝑣𝑒𝑠𝑡𝑖𝑟</m:t>
                        </m:r>
                      </m:sub>
                    </m:sSub>
                    <m:r>
                      <m:rPr>
                        <m:nor/>
                      </m:rPr>
                      <a:rPr lang="fr-FR" sz="2800" b="1" i="0" dirty="0" smtClean="0"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&gt;</m:t>
                    </m:r>
                    <m:r>
                      <m:rPr>
                        <m:nor/>
                      </m:rPr>
                      <a:rPr lang="fr-FR" sz="2800" b="1" i="0" dirty="0" smtClean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 </m:t>
                    </m:r>
                    <m:sSub>
                      <m:sSubPr>
                        <m:ctrlPr>
                          <a:rPr lang="fr-FR" sz="280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</m:ctrlPr>
                      </m:sSubPr>
                      <m:e>
                        <m:r>
                          <a:rPr lang="fr-F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𝑉𝐴</m:t>
                        </m:r>
                      </m:e>
                      <m:sub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𝑛𝑒</m:t>
                        </m:r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𝑝𝑎𝑠</m:t>
                        </m:r>
                        <m:r>
                          <a:rPr lang="fr-FR" sz="2800" b="0" i="1" dirty="0" smtClean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 </m:t>
                        </m:r>
                        <m:r>
                          <a:rPr lang="fr-FR" sz="2800" i="1" dirty="0">
                            <a:latin typeface="Cambria Math" panose="02040503050406030204" pitchFamily="18" charset="0"/>
                            <a:ea typeface="Calibri" panose="020F0502020204030204" pitchFamily="34" charset="0"/>
                            <a:cs typeface="Calibri" panose="020F0502020204030204" pitchFamily="34" charset="0"/>
                          </a:rPr>
                          <m:t>𝑖𝑛𝑣𝑒𝑠𝑡𝑖𝑟</m:t>
                        </m:r>
                      </m:sub>
                    </m:sSub>
                  </m:oMath>
                </a14:m>
                <a:r>
                  <a:rPr lang="fr-FR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, </a:t>
                </a:r>
                <a:r>
                  <a:rPr lang="fr-FR" sz="28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l’entreprise devrait investir dans le nouveau projet</a:t>
                </a:r>
                <a:r>
                  <a:rPr lang="fr-FR" sz="1800" b="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</a:p>
            </p:txBody>
          </p:sp>
        </mc:Choice>
        <mc:Fallback xmlns="">
          <p:sp>
            <p:nvSpPr>
              <p:cNvPr id="9" name="ZoneTexte 8">
                <a:extLst>
                  <a:ext uri="{FF2B5EF4-FFF2-40B4-BE49-F238E27FC236}">
                    <a16:creationId xmlns:a16="http://schemas.microsoft.com/office/drawing/2014/main" id="{D0151A1F-6308-ECC1-CA6C-BE20B8358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110" y="4404369"/>
                <a:ext cx="8797636" cy="987322"/>
              </a:xfrm>
              <a:prstGeom prst="rect">
                <a:avLst/>
              </a:prstGeom>
              <a:blipFill>
                <a:blip r:embed="rId5"/>
                <a:stretch>
                  <a:fillRect l="-1171" t="-3529" b="-13529"/>
                </a:stretch>
              </a:blipFill>
              <a:ln w="57150"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87093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CDABC-2F37-2964-534D-F0CA69B2E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1B7B4F6-366C-C387-F7AB-E7D861F4F0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4C54908-0958-D29C-FE36-E29ED88DB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21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70C3BD-D057-5066-339B-EE48BA029FA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AC7E24A-0F38-D75C-72D0-4AFD16916ED6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545B9889-77E4-A0DB-EC5F-8583DFA904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3404C357-F297-CA86-6579-9C3A7EF52E93}"/>
              </a:ext>
            </a:extLst>
          </p:cNvPr>
          <p:cNvSpPr txBox="1"/>
          <p:nvPr/>
        </p:nvSpPr>
        <p:spPr>
          <a:xfrm>
            <a:off x="1781827" y="2351500"/>
            <a:ext cx="9456149" cy="16466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L'analyse de scénario implique l'examen des </a:t>
            </a: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résultats potentiels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d'une décision sous différents scénarios futurs possibles. </a:t>
            </a:r>
          </a:p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Chaque scénario est une version possible de l'avenir, avec un ensemble </a:t>
            </a: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cohérent d'hypothèses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04628FA5-17F6-1C55-4BEB-518CC856C53D}"/>
              </a:ext>
            </a:extLst>
          </p:cNvPr>
          <p:cNvSpPr txBox="1"/>
          <p:nvPr/>
        </p:nvSpPr>
        <p:spPr>
          <a:xfrm>
            <a:off x="2324099" y="126616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2. Analyse de scenario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62697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E29AB4-CED8-49E0-787C-03009473D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F36338A-98FB-AB63-559B-3668FB6FE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BE67380-6CB3-80F8-D87E-58E63CC4C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22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EF929C-9CCA-9D4A-D281-3AF3DD20910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BABA0C0-D2EE-3F93-5C53-68B1A82583BA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2D5EAE9F-7A45-6B50-1DEB-ED8681567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0CDE44FE-D0EA-127B-5B79-7F268B816339}"/>
              </a:ext>
            </a:extLst>
          </p:cNvPr>
          <p:cNvSpPr txBox="1"/>
          <p:nvPr/>
        </p:nvSpPr>
        <p:spPr>
          <a:xfrm>
            <a:off x="1781827" y="2351500"/>
            <a:ext cx="945614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Identification des scénarios :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Définissez les scénarios possibles (optimiste, pessimiste, neutre).</a:t>
            </a:r>
          </a:p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Évaluation des résultats :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Calculez les résultats pour chaque scénario.</a:t>
            </a:r>
          </a:p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Analyse comparative :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Comparez les résultats et identifiez la décision qui offre le meilleur compromis.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CD9EE0B-BCB4-815A-622C-9942788874BB}"/>
              </a:ext>
            </a:extLst>
          </p:cNvPr>
          <p:cNvSpPr txBox="1"/>
          <p:nvPr/>
        </p:nvSpPr>
        <p:spPr>
          <a:xfrm>
            <a:off x="2324099" y="126616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2. Analyse de scenario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119C088-2194-5CEE-787D-B08B028A3083}"/>
              </a:ext>
            </a:extLst>
          </p:cNvPr>
          <p:cNvSpPr txBox="1"/>
          <p:nvPr/>
        </p:nvSpPr>
        <p:spPr>
          <a:xfrm rot="16200000">
            <a:off x="-582766" y="3172770"/>
            <a:ext cx="28680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accent1"/>
                </a:solidFill>
              </a:rPr>
              <a:t>Les étapes</a:t>
            </a:r>
          </a:p>
        </p:txBody>
      </p:sp>
    </p:spTree>
    <p:extLst>
      <p:ext uri="{BB962C8B-B14F-4D97-AF65-F5344CB8AC3E}">
        <p14:creationId xmlns:p14="http://schemas.microsoft.com/office/powerpoint/2010/main" val="7125753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42202E-20B6-58E8-A544-CDF67F676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64957EE8-6CA6-0385-19FC-819DCEB53C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F6B3E87-2BC9-125B-D137-9DD49CC50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23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F7FC511-2BCD-597C-90F1-BD91501345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9F9CFA16-C848-1941-CF19-1D95C0B88D2B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5D2537AA-10A4-90EB-740E-924C8266B0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B28B958E-A203-3414-EF2D-E07CD18822F6}"/>
              </a:ext>
            </a:extLst>
          </p:cNvPr>
          <p:cNvSpPr txBox="1"/>
          <p:nvPr/>
        </p:nvSpPr>
        <p:spPr>
          <a:xfrm>
            <a:off x="1781827" y="2351500"/>
            <a:ext cx="9456149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 investisseur peut évaluer un projet sous des scénarios économiques différents, tels qu'une récession, une croissance modérée, et une forte expansion.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3F2C02E-32F2-4363-64B2-4F3EE3EA60D6}"/>
              </a:ext>
            </a:extLst>
          </p:cNvPr>
          <p:cNvSpPr txBox="1"/>
          <p:nvPr/>
        </p:nvSpPr>
        <p:spPr>
          <a:xfrm>
            <a:off x="2324099" y="126616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2. Analyse de scenario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05FA4E4-DB10-C7B0-0DFD-5DA1E70E6D08}"/>
              </a:ext>
            </a:extLst>
          </p:cNvPr>
          <p:cNvSpPr txBox="1"/>
          <p:nvPr/>
        </p:nvSpPr>
        <p:spPr>
          <a:xfrm rot="16200000">
            <a:off x="-257592" y="3030530"/>
            <a:ext cx="22990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accent1"/>
                </a:solidFill>
              </a:rPr>
              <a:t>Exemple</a:t>
            </a:r>
          </a:p>
        </p:txBody>
      </p:sp>
    </p:spTree>
    <p:extLst>
      <p:ext uri="{BB962C8B-B14F-4D97-AF65-F5344CB8AC3E}">
        <p14:creationId xmlns:p14="http://schemas.microsoft.com/office/powerpoint/2010/main" val="3558048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17FFB-F106-7696-C9E9-3A51BFC74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3E32C527-3359-C9E1-FFDA-5A4DC913A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6ABE64FA-DB12-0FA8-DAC2-62DE39690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24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161A7B-5DAF-5CAA-87D9-F7B3251D22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27A708DF-DBD6-EC5A-115D-47F177AF2D46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CB72F28D-A323-2179-49DC-88AC7CCF1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10" name="ZoneTexte 9">
            <a:extLst>
              <a:ext uri="{FF2B5EF4-FFF2-40B4-BE49-F238E27FC236}">
                <a16:creationId xmlns:a16="http://schemas.microsoft.com/office/drawing/2014/main" id="{94FE2621-79B1-C084-F5CF-7BF13FC80CCF}"/>
              </a:ext>
            </a:extLst>
          </p:cNvPr>
          <p:cNvSpPr txBox="1"/>
          <p:nvPr/>
        </p:nvSpPr>
        <p:spPr>
          <a:xfrm>
            <a:off x="2324099" y="1266166"/>
            <a:ext cx="803771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2. Analyse de scenario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414ACA47-A291-F7A1-8DA3-BB06C48507EA}"/>
              </a:ext>
            </a:extLst>
          </p:cNvPr>
          <p:cNvSpPr txBox="1"/>
          <p:nvPr/>
        </p:nvSpPr>
        <p:spPr>
          <a:xfrm rot="16200000">
            <a:off x="-257592" y="3030530"/>
            <a:ext cx="22990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4800" dirty="0">
                <a:solidFill>
                  <a:schemeClr val="accent1"/>
                </a:solidFill>
              </a:rPr>
              <a:t>Exemple</a:t>
            </a:r>
          </a:p>
        </p:txBody>
      </p:sp>
      <p:pic>
        <p:nvPicPr>
          <p:cNvPr id="11" name="Image 10">
            <a:extLst>
              <a:ext uri="{FF2B5EF4-FFF2-40B4-BE49-F238E27FC236}">
                <a16:creationId xmlns:a16="http://schemas.microsoft.com/office/drawing/2014/main" id="{E2CA3359-0F55-A2C8-6ADA-6683CD8810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5891" y="2123893"/>
            <a:ext cx="9102436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7073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43D77-AB90-9550-A638-BB0FB8592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E445877-D891-A634-A173-79BC71A5B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8345021-B8F3-64E8-C9F4-DCAFBAD23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25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35C07F-611D-A71F-7510-CD515DA96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90E6594-2DB5-9BDA-4A84-393FE5DB8B2B}"/>
              </a:ext>
            </a:extLst>
          </p:cNvPr>
          <p:cNvSpPr txBox="1"/>
          <p:nvPr/>
        </p:nvSpPr>
        <p:spPr>
          <a:xfrm>
            <a:off x="1781827" y="533045"/>
            <a:ext cx="101663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600" dirty="0"/>
              <a:t>techniques d’analyse des décisions sous incertitude</a:t>
            </a:r>
            <a:endParaRPr lang="fr-FR" sz="36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36CD2A87-16E5-E9A5-C4A2-ED49B2BAAD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954" y="312038"/>
            <a:ext cx="1309728" cy="130972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AAAA80D9-8DC7-537D-5DAB-FBA035CA699B}"/>
              </a:ext>
            </a:extLst>
          </p:cNvPr>
          <p:cNvSpPr txBox="1"/>
          <p:nvPr/>
        </p:nvSpPr>
        <p:spPr>
          <a:xfrm>
            <a:off x="1259841" y="2188940"/>
            <a:ext cx="9978136" cy="3093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Critère de Laplace :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Choisir l'option avec la meilleure moyenne des résultats, en supposant que tous les états de la nature sont également probables.</a:t>
            </a:r>
          </a:p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Critère de </a:t>
            </a:r>
            <a:r>
              <a:rPr lang="fr-FR" sz="20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Maximax</a:t>
            </a: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: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Sélectionner l'option avec le meilleur résultat possible, correspondant à une stratégie optimiste.</a:t>
            </a:r>
          </a:p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Critère de Maximin :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Choisir l'option avec le meilleur des pires résultats possibles, correspondant à une stratégie pessimiste ou aversion au risque.</a:t>
            </a:r>
          </a:p>
          <a:p>
            <a:pPr marL="457200" indent="-457200" algn="just"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Critère de Savage (Minimax Regret) : </a:t>
            </a:r>
            <a:r>
              <a:rPr lang="fr-FR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Minimiser le regret maximal, c'est-à-dire la différence entre le résultat obtenu et le meilleur résultat possible si l'on avait su quel état de la nature se réaliserait.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61004DF-A25D-120F-8B4A-F91CF755CCF6}"/>
              </a:ext>
            </a:extLst>
          </p:cNvPr>
          <p:cNvSpPr txBox="1"/>
          <p:nvPr/>
        </p:nvSpPr>
        <p:spPr>
          <a:xfrm>
            <a:off x="2324099" y="1266166"/>
            <a:ext cx="847598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800" dirty="0">
                <a:solidFill>
                  <a:srgbClr val="00B050"/>
                </a:solidFill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3</a:t>
            </a:r>
            <a:r>
              <a:rPr lang="fr-FR" sz="2800" dirty="0">
                <a:solidFill>
                  <a:srgbClr val="00B050"/>
                </a:solidFill>
                <a:effectLst/>
                <a:latin typeface="Snap ITC" panose="04040A07060A02020202" pitchFamily="82" charset="0"/>
                <a:ea typeface="Aptos" panose="020B0004020202020204" pitchFamily="34" charset="0"/>
                <a:cs typeface="Times New Roman" panose="02020603050405020304" pitchFamily="18" charset="0"/>
              </a:rPr>
              <a:t>. Critères de décision sous incertitude</a:t>
            </a:r>
            <a:endParaRPr lang="fr-FR" sz="2800" dirty="0">
              <a:solidFill>
                <a:srgbClr val="00B050"/>
              </a:solidFill>
              <a:latin typeface="Snap ITC" panose="04040A07060A02020202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707970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F2FDD-303E-03E5-2B9F-F36DF4AFD7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7A0D63E-C8D2-B033-12EC-77EC82A17B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701D29FF-67A8-69CF-BCCA-1223B7603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26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47F4FD-D1DA-DB85-93DB-420147537A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D3C5F02-E6F0-5C6F-EC3C-167DF2661856}"/>
              </a:ext>
            </a:extLst>
          </p:cNvPr>
          <p:cNvSpPr txBox="1"/>
          <p:nvPr/>
        </p:nvSpPr>
        <p:spPr>
          <a:xfrm>
            <a:off x="951014" y="876181"/>
            <a:ext cx="914848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6000" dirty="0">
                <a:solidFill>
                  <a:srgbClr val="C00000"/>
                </a:solidFill>
              </a:rPr>
              <a:t>3 : </a:t>
            </a:r>
            <a:r>
              <a:rPr lang="fr-FR" sz="6000" dirty="0"/>
              <a:t>utilisation des probas conditionnelles &amp; Bayésiennes dans</a:t>
            </a:r>
          </a:p>
          <a:p>
            <a:r>
              <a:rPr lang="fr-FR" sz="6000" u="sng" dirty="0">
                <a:solidFill>
                  <a:schemeClr val="accent2"/>
                </a:solidFill>
              </a:rPr>
              <a:t>La prise de décision</a:t>
            </a: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DA43858C-E142-D11E-BDE3-6AAC39B2D7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29550" y="2011442"/>
            <a:ext cx="3611880" cy="3611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89147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AE5BE-0DA4-B122-4D28-AF76E115D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83AA2B0-342A-EDE8-E846-79B9750440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E213959-77BA-E3BA-F48C-B24FDCAC9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27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1EF61F-3C3A-4617-7579-675C344B0CB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328E30E3-8D40-2085-B4E7-2F73A6408C61}"/>
              </a:ext>
            </a:extLst>
          </p:cNvPr>
          <p:cNvSpPr txBox="1"/>
          <p:nvPr/>
        </p:nvSpPr>
        <p:spPr>
          <a:xfrm>
            <a:off x="1870364" y="377313"/>
            <a:ext cx="99337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utilisation des probas conditionnelles &amp; Bayésiennes dans </a:t>
            </a:r>
            <a:r>
              <a:rPr lang="fr-FR" sz="3200" u="sng" dirty="0">
                <a:solidFill>
                  <a:schemeClr val="accent2"/>
                </a:solidFill>
              </a:rPr>
              <a:t>La prise de décision</a:t>
            </a: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8D732BC5-ECC0-CD5D-042E-E3C7873BAF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28" y="207143"/>
            <a:ext cx="1077218" cy="1077218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D120B382-D176-3C20-C035-0AEC569D64DB}"/>
              </a:ext>
            </a:extLst>
          </p:cNvPr>
          <p:cNvSpPr txBox="1"/>
          <p:nvPr/>
        </p:nvSpPr>
        <p:spPr>
          <a:xfrm>
            <a:off x="670560" y="2023552"/>
            <a:ext cx="10613966" cy="2602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Comme </a:t>
            </a:r>
            <a:r>
              <a:rPr lang="fr-FR" sz="2400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nous l’avons évoqué dans le précédent épisode, </a:t>
            </a:r>
            <a:r>
              <a:rPr lang="fr-FR" sz="2400" b="1" kern="100" dirty="0"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</a:t>
            </a:r>
            <a:r>
              <a:rPr lang="fr-FR" sz="2400" b="1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 probabilités conditionnelles et bayésiennes sont des outils puissants pour la prise de décision</a:t>
            </a:r>
            <a:r>
              <a:rPr lang="fr-FR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en particulier dans des contextes où l'incertitude est présente et où de nouvelles informations peuvent modifier les perspectives. </a:t>
            </a:r>
          </a:p>
          <a:p>
            <a:pPr marL="342900" indent="-342900" algn="just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Elles permettent </a:t>
            </a:r>
            <a:r>
              <a:rPr lang="fr-FR" sz="2400" i="1" u="sng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d'actualiser les croyances </a:t>
            </a:r>
            <a:r>
              <a:rPr lang="fr-FR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 tenant compte des preuves observées et de </a:t>
            </a:r>
            <a:r>
              <a:rPr lang="fr-FR" sz="2400" i="1" u="sng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faire des choix plus éclairés </a:t>
            </a:r>
            <a:r>
              <a:rPr lang="fr-FR" sz="2400" kern="100" dirty="0">
                <a:effectLst/>
                <a:latin typeface="Calibri" panose="020F050202020403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en fonction des données disponibles.</a:t>
            </a:r>
            <a:endParaRPr lang="fr-FR" sz="240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025" name="Image 2">
            <a:extLst>
              <a:ext uri="{FF2B5EF4-FFF2-40B4-BE49-F238E27FC236}">
                <a16:creationId xmlns:a16="http://schemas.microsoft.com/office/drawing/2014/main" id="{4A37C99F-9494-A65E-21BC-83323D1486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42975" cy="228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407671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8C5ED-B7F8-E470-FB41-E275EEB260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9128F235-2430-5F3D-433D-7BCB9EFE7B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AB01308-3ECF-65B7-E11F-ACC31D3D5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28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5B2B25-4B25-E342-2E50-DD0D500CCB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DE7A0736-DB31-945A-AF1C-CCB0D086C939}"/>
              </a:ext>
            </a:extLst>
          </p:cNvPr>
          <p:cNvSpPr txBox="1"/>
          <p:nvPr/>
        </p:nvSpPr>
        <p:spPr>
          <a:xfrm>
            <a:off x="1870364" y="377313"/>
            <a:ext cx="993370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/>
              <a:t>utilisation des probas conditionnelles &amp; Bayésiennes dans </a:t>
            </a:r>
            <a:r>
              <a:rPr lang="fr-FR" sz="3200" u="sng" dirty="0">
                <a:solidFill>
                  <a:schemeClr val="accent2"/>
                </a:solidFill>
              </a:rPr>
              <a:t>La prise de décision </a:t>
            </a:r>
            <a:r>
              <a:rPr lang="fr-FR" sz="3200" dirty="0">
                <a:solidFill>
                  <a:schemeClr val="accent2"/>
                </a:solidFill>
              </a:rPr>
              <a:t>– </a:t>
            </a:r>
            <a:r>
              <a:rPr lang="fr-FR" sz="3200" dirty="0">
                <a:solidFill>
                  <a:schemeClr val="accent1"/>
                </a:solidFill>
              </a:rPr>
              <a:t>Applications pratiques</a:t>
            </a: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5BB36096-C4F0-FFA6-040D-A728DC6598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28" y="207143"/>
            <a:ext cx="1077218" cy="1077218"/>
          </a:xfrm>
          <a:prstGeom prst="rect">
            <a:avLst/>
          </a:prstGeom>
        </p:spPr>
      </p:pic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9718C012-412E-252C-EA68-89FDD316AD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79502"/>
              </p:ext>
            </p:extLst>
          </p:nvPr>
        </p:nvGraphicFramePr>
        <p:xfrm>
          <a:off x="1465146" y="1795996"/>
          <a:ext cx="9994585" cy="32833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8694">
                  <a:extLst>
                    <a:ext uri="{9D8B030D-6E8A-4147-A177-3AD203B41FA5}">
                      <a16:colId xmlns:a16="http://schemas.microsoft.com/office/drawing/2014/main" val="3877678300"/>
                    </a:ext>
                  </a:extLst>
                </a:gridCol>
                <a:gridCol w="8675891">
                  <a:extLst>
                    <a:ext uri="{9D8B030D-6E8A-4147-A177-3AD203B41FA5}">
                      <a16:colId xmlns:a16="http://schemas.microsoft.com/office/drawing/2014/main" val="3921938799"/>
                    </a:ext>
                  </a:extLst>
                </a:gridCol>
              </a:tblGrid>
              <a:tr h="540174">
                <a:tc>
                  <a:txBody>
                    <a:bodyPr/>
                    <a:lstStyle/>
                    <a:p>
                      <a:r>
                        <a:rPr lang="fr-FR" b="0" dirty="0"/>
                        <a:t>Secteur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b="0" dirty="0"/>
                        <a:t>exemple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6338947"/>
                  </a:ext>
                </a:extLst>
              </a:tr>
              <a:tr h="673524">
                <a:tc>
                  <a:txBody>
                    <a:bodyPr/>
                    <a:lstStyle/>
                    <a:p>
                      <a:r>
                        <a:rPr lang="fr-FR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Finance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Les investisseurs utilisent les probabilités bayésiennes pour </a:t>
                      </a:r>
                      <a:r>
                        <a:rPr lang="fr-FR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ajuster leurs prévisions </a:t>
                      </a:r>
                      <a:r>
                        <a:rPr lang="fr-F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sur </a:t>
                      </a:r>
                      <a:r>
                        <a:rPr lang="fr-FR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les rendements futurs des actions </a:t>
                      </a:r>
                      <a:r>
                        <a:rPr lang="fr-F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 fonction de nouvelles informations économiques ou financières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99220589"/>
                  </a:ext>
                </a:extLst>
              </a:tr>
              <a:tr h="673524">
                <a:tc>
                  <a:txBody>
                    <a:bodyPr/>
                    <a:lstStyle/>
                    <a:p>
                      <a:r>
                        <a:rPr lang="fr-FR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Marketing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Une entreprise peut </a:t>
                      </a:r>
                      <a:r>
                        <a:rPr lang="fr-FR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ajuster ses stratégies de ciblage publicitaire </a:t>
                      </a:r>
                      <a:r>
                        <a:rPr lang="fr-F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 fonction des réponses des consommateurs à des campagnes précédentes, en utilisant les probabilités bayésiennes pour prédire les comportements futurs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78930495"/>
                  </a:ext>
                </a:extLst>
              </a:tr>
              <a:tr h="673524">
                <a:tc>
                  <a:txBody>
                    <a:bodyPr/>
                    <a:lstStyle/>
                    <a:p>
                      <a:r>
                        <a:rPr lang="fr-FR" sz="20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Logistique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Les gestionnaires de la chaîne d'approvisionnement peuvent utiliser les probabilités bayésiennes pour </a:t>
                      </a:r>
                      <a:r>
                        <a:rPr lang="fr-FR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ajuster leurs prévisions de demande </a:t>
                      </a:r>
                      <a:r>
                        <a:rPr lang="fr-FR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 fonction de nouvelles données de vente ou d'événements inattendus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33666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587646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FC894F-8CBE-2ABD-21D4-6ED9FA37A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2AEE0F30-2BBC-BEE1-EBB1-4E38CB8624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87125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stats </a:t>
            </a:r>
            <a:r>
              <a:rPr lang="en-US" sz="2700" dirty="0" err="1"/>
              <a:t>decisionnelles</a:t>
            </a:r>
            <a:r>
              <a:rPr lang="en-US" sz="2700" dirty="0"/>
              <a:t> – Episode 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91027BF-D8D9-5989-E533-3C167C04D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29</a:t>
            </a:fld>
            <a:endParaRPr lang="en-US" sz="2700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086C6A-942C-1DBE-0B09-906711B14A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B184AC2B-4C94-C72E-B0F3-A942B8550BDA}"/>
              </a:ext>
            </a:extLst>
          </p:cNvPr>
          <p:cNvSpPr txBox="1"/>
          <p:nvPr/>
        </p:nvSpPr>
        <p:spPr>
          <a:xfrm>
            <a:off x="1870364" y="377313"/>
            <a:ext cx="99337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3200" dirty="0">
                <a:solidFill>
                  <a:schemeClr val="accent1"/>
                </a:solidFill>
              </a:rPr>
              <a:t>Limites</a:t>
            </a:r>
            <a:r>
              <a:rPr lang="fr-FR" sz="3200" dirty="0"/>
              <a:t> analyse sous incertitude</a:t>
            </a:r>
            <a:endParaRPr lang="fr-FR" sz="3200" dirty="0">
              <a:solidFill>
                <a:schemeClr val="accent1"/>
              </a:solidFill>
            </a:endParaRPr>
          </a:p>
        </p:txBody>
      </p:sp>
      <p:pic>
        <p:nvPicPr>
          <p:cNvPr id="7" name="Image 6" descr="Une image contenant texte, habits, affiche, Visage humain&#10;&#10;Description générée automatiquement">
            <a:extLst>
              <a:ext uri="{FF2B5EF4-FFF2-40B4-BE49-F238E27FC236}">
                <a16:creationId xmlns:a16="http://schemas.microsoft.com/office/drawing/2014/main" id="{D435E664-2BCE-3E08-F4A4-1F0988CBFF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928" y="207143"/>
            <a:ext cx="1077218" cy="1077218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63F81E02-754D-F44F-5FAB-3D7E94F31AC9}"/>
              </a:ext>
            </a:extLst>
          </p:cNvPr>
          <p:cNvSpPr txBox="1"/>
          <p:nvPr/>
        </p:nvSpPr>
        <p:spPr>
          <a:xfrm>
            <a:off x="1254970" y="1614909"/>
            <a:ext cx="9933708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Bef>
                <a:spcPts val="600"/>
              </a:spcBef>
              <a:spcAft>
                <a:spcPts val="12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Incertitude des Probabilités :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probabilités utilisées dans l'analyse peuvent être difficilement quantifiables ou totalement inconnues.</a:t>
            </a:r>
          </a:p>
          <a:p>
            <a:pPr marL="342900" indent="-342900" algn="just">
              <a:spcBef>
                <a:spcPts val="600"/>
              </a:spcBef>
              <a:spcAft>
                <a:spcPts val="12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Complexité :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Certains problèmes peuvent devenir extrêmement complexes, rendant difficile l'utilisation d'outils comme les arbres de décision.</a:t>
            </a:r>
          </a:p>
          <a:p>
            <a:pPr marL="342900" indent="-342900" algn="just">
              <a:spcBef>
                <a:spcPts val="600"/>
              </a:spcBef>
              <a:spcAft>
                <a:spcPts val="1200"/>
              </a:spcAft>
              <a:buClr>
                <a:srgbClr val="C00000"/>
              </a:buClr>
              <a:buFont typeface="Wingdings 2" panose="05020102010507070707" pitchFamily="18" charset="2"/>
              <a:buChar char="»"/>
            </a:pPr>
            <a:r>
              <a:rPr lang="fr-FR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Biais Cognitifs : </a:t>
            </a:r>
            <a:r>
              <a:rPr lang="fr-FR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Les décideurs peuvent être influencés par des biais cognitifs, tels que l'optimisme excessif ou la surestimation des capacités, qui peuvent fausser l'évaluation des risques.</a:t>
            </a:r>
          </a:p>
        </p:txBody>
      </p:sp>
    </p:spTree>
    <p:extLst>
      <p:ext uri="{BB962C8B-B14F-4D97-AF65-F5344CB8AC3E}">
        <p14:creationId xmlns:p14="http://schemas.microsoft.com/office/powerpoint/2010/main" val="32281363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4F986EE0-F0F2-48AD-9457-E0315951D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44000" y="5776384"/>
            <a:ext cx="7399800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8. annexes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592D536E-B9D3-4FE1-A8CC-2D3008876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015250" y="5776384"/>
            <a:ext cx="907186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z="2700" smtClean="0"/>
              <a:pPr/>
              <a:t>30</a:t>
            </a:fld>
            <a:endParaRPr lang="en-US" sz="2700" dirty="0"/>
          </a:p>
        </p:txBody>
      </p:sp>
      <p:pic>
        <p:nvPicPr>
          <p:cNvPr id="3" name="Picture 2" descr="Image result for merci">
            <a:extLst>
              <a:ext uri="{FF2B5EF4-FFF2-40B4-BE49-F238E27FC236}">
                <a16:creationId xmlns:a16="http://schemas.microsoft.com/office/drawing/2014/main" id="{0D805958-9DF9-F5B6-FF63-A7DEC8BAD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820" y="576264"/>
            <a:ext cx="9531480" cy="49899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1">
            <a:extLst>
              <a:ext uri="{FF2B5EF4-FFF2-40B4-BE49-F238E27FC236}">
                <a16:creationId xmlns:a16="http://schemas.microsoft.com/office/drawing/2014/main" id="{D72E6721-D084-EE89-A243-5AB104697FD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941868" y="5776384"/>
            <a:ext cx="2688477" cy="49847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sz="2700" dirty="0"/>
              <a:t>Nov 2024</a:t>
            </a:r>
          </a:p>
        </p:txBody>
      </p:sp>
    </p:spTree>
    <p:extLst>
      <p:ext uri="{BB962C8B-B14F-4D97-AF65-F5344CB8AC3E}">
        <p14:creationId xmlns:p14="http://schemas.microsoft.com/office/powerpoint/2010/main" val="90143831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Grand événement">
  <a:themeElements>
    <a:clrScheme name="Main Even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Main Even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ain Even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TM04033927[[fn=Grand événement]]</Template>
  <TotalTime>43582</TotalTime>
  <Words>3597</Words>
  <Application>Microsoft Office PowerPoint</Application>
  <PresentationFormat>Grand écran</PresentationFormat>
  <Paragraphs>469</Paragraphs>
  <Slides>30</Slides>
  <Notes>29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30</vt:i4>
      </vt:variant>
    </vt:vector>
  </HeadingPairs>
  <TitlesOfParts>
    <vt:vector size="41" baseType="lpstr">
      <vt:lpstr>Aptos</vt:lpstr>
      <vt:lpstr>Arial</vt:lpstr>
      <vt:lpstr>Calibri</vt:lpstr>
      <vt:lpstr>Cambria Math</vt:lpstr>
      <vt:lpstr>Courier New</vt:lpstr>
      <vt:lpstr>Impact</vt:lpstr>
      <vt:lpstr>Snap ITC</vt:lpstr>
      <vt:lpstr>Symbol</vt:lpstr>
      <vt:lpstr>Wingdings</vt:lpstr>
      <vt:lpstr>Wingdings 2</vt:lpstr>
      <vt:lpstr>Grand événement</vt:lpstr>
      <vt:lpstr>Statistiques décisionnelles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Offre magazines / livres SOTRACO</dc:title>
  <dc:creator>EXP16@DOMP2000</dc:creator>
  <cp:lastModifiedBy>BOIN Laurent</cp:lastModifiedBy>
  <cp:revision>328</cp:revision>
  <cp:lastPrinted>2024-11-24T19:25:39Z</cp:lastPrinted>
  <dcterms:created xsi:type="dcterms:W3CDTF">2020-03-23T16:18:23Z</dcterms:created>
  <dcterms:modified xsi:type="dcterms:W3CDTF">2025-01-12T18:17:13Z</dcterms:modified>
</cp:coreProperties>
</file>